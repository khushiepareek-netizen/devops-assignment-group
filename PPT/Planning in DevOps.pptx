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81.png"/><Relationship Id="rId16" Type="http://schemas.openxmlformats.org/officeDocument/2006/relationships/image" Target="../media/image8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936527"/>
            <a:ext cx="7620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422427"/>
            <a:ext cx="3810000" cy="1165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5500" y="1553616"/>
            <a:ext cx="8001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b="0" sz="5400" i="0" u="none">
                <a:solidFill>
                  <a:srgbClr val="F1F5F9"/>
                </a:solidFill>
                <a:latin typeface="Montserrat ExtraBold"/>
              </a:rPr>
              <a:t>Planning in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700" y="3088927"/>
            <a:ext cx="7124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 Medium"/>
              </a:rPr>
              <a:t>Planning is the starting point of the DevOps lifecycle where requirements, user stories, sprint backlog and the definition of done are prepared.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17702"/>
            <a:ext cx="3810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Presented by:</a:t>
            </a:r>
            <a:r>
              <a:rPr b="0" sz="1350" i="0" u="none">
                <a:solidFill>
                  <a:srgbClr val="CBD5E1"/>
                </a:solidFill>
                <a:latin typeface="Inter Medium"/>
              </a:rPr>
              <a:t> Your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39617"/>
            <a:ext cx="3810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Subject:</a:t>
            </a:r>
            <a:r>
              <a:rPr b="0" sz="1350" i="0" u="none">
                <a:solidFill>
                  <a:srgbClr val="CBD5E1"/>
                </a:solidFill>
                <a:latin typeface="Inter Medium"/>
              </a:rPr>
              <a:t> DevOps |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Topic:</a:t>
            </a:r>
            <a:r>
              <a:rPr b="0" sz="1350" i="0" u="none">
                <a:solidFill>
                  <a:srgbClr val="CBD5E1"/>
                </a:solidFill>
                <a:latin typeface="Inter Medium"/>
              </a:rPr>
              <a:t> Planning / Plan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200400"/>
            <a:ext cx="3486150" cy="25220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3200400"/>
            <a:ext cx="3486150" cy="25220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3200400"/>
            <a:ext cx="3486150" cy="2522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619250"/>
            <a:ext cx="11029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DevOps is a culture and set of practices that brings together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Development (Dev)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and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IT Operations (Ops)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to deliver software faster, more frequently, and more reliably through collaboration and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571750"/>
            <a:ext cx="331041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Three Important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162425"/>
            <a:ext cx="316039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1. People / Culture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150" y="4533900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4695825"/>
            <a:ext cx="30099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Shared ownership, "You build it, you run it", and a culture of no blame between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4162425"/>
            <a:ext cx="316039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2.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1050" y="4533900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050" y="4695825"/>
            <a:ext cx="3009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Focuses on small changes, frequent releases, and continuous feedback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4162425"/>
            <a:ext cx="316039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3.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2950" y="4533900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2950" y="4695825"/>
            <a:ext cx="3009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Automation of building, testing, deployment, and monitoring systems.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543300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3543300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3543300"/>
            <a:ext cx="38100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What is DevOps?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19350"/>
            <a:ext cx="6389340" cy="33983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365" y="1619250"/>
            <a:ext cx="4259609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619250"/>
            <a:ext cx="638934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DevOps lifecycle is an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infinity loop (∞)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because the process is continuous. It consists of eight stages.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0550" y="2428875"/>
          <a:ext cx="6370289" cy="3379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85118"/>
                <a:gridCol w="3271539"/>
                <a:gridCol w="1913632"/>
              </a:tblGrid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Main Activity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</a:tr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8BDF8"/>
                          </a:solidFill>
                          <a:latin typeface="Inter SemiBold"/>
                        </a:rPr>
                        <a:t>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Requirements, backlog, DoD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Jira, Trello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Write &amp; version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Git, GitHub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Build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Compile &amp; package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Maven, Jenkins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JUnit, Selenium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75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Release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Prepare artifact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GitLab CI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761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Deploy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Push to target env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Docker, Ansible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390" y="1819275"/>
            <a:ext cx="3859559" cy="3409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0550" y="2957512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75668" y="2957512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7208" y="2957512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431827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5668" y="3431827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208" y="3431827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3906142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5668" y="3906142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7208" y="3906142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4380458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75668" y="4380458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208" y="4380458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550" y="4854773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75668" y="4854773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7208" y="4854773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0550" y="5329088"/>
            <a:ext cx="11851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75668" y="5329088"/>
            <a:ext cx="327153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7208" y="5329088"/>
            <a:ext cx="19136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The DevOps Lifecycle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52637"/>
            <a:ext cx="5229225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633787"/>
            <a:ext cx="5229225" cy="35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405312"/>
            <a:ext cx="5229225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5176837"/>
            <a:ext cx="5229225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5948362"/>
            <a:ext cx="5229225" cy="352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6719887"/>
            <a:ext cx="5229225" cy="352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100137"/>
            <a:ext cx="11029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Plan stage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is the first stage of the DevOps lifecycle. The purpose is to decide what needs to be developed and what the expected result should be </a:t>
            </a:r>
            <a:r>
              <a:rPr b="0" sz="1500" i="1" u="none">
                <a:solidFill>
                  <a:srgbClr val="CBD5E1"/>
                </a:solidFill>
                <a:latin typeface="Inter"/>
              </a:rPr>
              <a:t>before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development starts.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052637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Key Components of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56698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566987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Requirements: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What needs to be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98608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986087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User Stories: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Features from a user's perspective.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340518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405187"/>
            <a:ext cx="500062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Sprint Backlog: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Work selected for the current iteration.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412908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129087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Definition of Done: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Conditions for completion.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2205037"/>
            <a:ext cx="497062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Simple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2681287"/>
            <a:ext cx="47339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Planning follows a structured progression to turn ideas into actionable developer tasks.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081462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852987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624512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6396037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61912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What is Planning in DevOps?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025" y="7000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9312"/>
            <a:ext cx="5229225" cy="3811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450" y="5283249"/>
            <a:ext cx="4733925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166812"/>
            <a:ext cx="11029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Requirements describe what the software or feature needs to achieve. During planning, the team identifies exactly what needs to be 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119312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Planning Starts With: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8450" y="2271712"/>
            <a:ext cx="497062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Example: Student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8450" y="2900362"/>
            <a:ext cx="4733925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CBD5E1"/>
                </a:solidFill>
                <a:latin typeface="Inter"/>
              </a:rPr>
              <a:t>Requirement:</a:t>
            </a:r>
            <a:r>
              <a:t>
</a:t>
            </a:r>
            <a:r>
              <a:rPr b="0" sz="1800" i="1" u="none">
                <a:solidFill>
                  <a:srgbClr val="CBD5E1"/>
                </a:solidFill>
                <a:latin typeface="Inter"/>
              </a:rPr>
              <a:t>"Students should be able to view their attendance."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4340274"/>
            <a:ext cx="47339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This high-level requirement is then broken down for execution: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2595562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525" y="2786062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Understanding core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3452812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525" y="3643312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Identifying expected functionality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4310062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525" y="4500562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Breaking requirements into smaller pieces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5167312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525" y="5357812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Organizing work for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6024562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525" y="6215062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Defining what successful completion means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3290887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4148137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1025" y="5005387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1025" y="5862637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6719887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05112"/>
            <a:ext cx="2286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662362"/>
            <a:ext cx="22860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519612"/>
            <a:ext cx="22860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376862"/>
            <a:ext cx="257175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6234112"/>
            <a:ext cx="200025" cy="2476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1025" y="128587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Requirements in Planning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76676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19250"/>
            <a:ext cx="5229225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943350"/>
            <a:ext cx="5229225" cy="1916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619250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What is a User Story?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095500"/>
            <a:ext cx="52292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 user story describes a feature from the user's point of view. It helps the development team understand: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191000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Why they are useful: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289560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89560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Who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needs the feature?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31470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1470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What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do they need?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73380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3380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Why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do they need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66725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66725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Easy to understand and focus on user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508635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08635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Can be broken into development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5505450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505450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Help the team prioritize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1771650"/>
            <a:ext cx="497062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2247900"/>
            <a:ext cx="4733925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1650" i="0" u="none">
                <a:solidFill>
                  <a:srgbClr val="CBD5E1"/>
                </a:solidFill>
                <a:latin typeface="monospace"/>
              </a:rPr>
              <a:t>As a</a:t>
            </a:r>
            <a:r>
              <a:rPr b="0" sz="1650" i="0" u="none">
                <a:solidFill>
                  <a:srgbClr val="CBD5E1"/>
                </a:solidFill>
                <a:latin typeface="monospace"/>
              </a:rPr>
              <a:t> [user]</a:t>
            </a:r>
            <a:r>
              <a:t>
</a:t>
            </a:r>
            <a:r>
              <a:rPr b="1" sz="1650" i="0" u="none">
                <a:solidFill>
                  <a:srgbClr val="CBD5E1"/>
                </a:solidFill>
                <a:latin typeface="monospace"/>
              </a:rPr>
              <a:t>I want</a:t>
            </a:r>
            <a:r>
              <a:rPr b="0" sz="1650" i="0" u="none">
                <a:solidFill>
                  <a:srgbClr val="CBD5E1"/>
                </a:solidFill>
                <a:latin typeface="monospace"/>
              </a:rPr>
              <a:t> [feature]</a:t>
            </a:r>
            <a:r>
              <a:t>
</a:t>
            </a:r>
            <a:r>
              <a:rPr b="1" sz="1650" i="0" u="none">
                <a:solidFill>
                  <a:srgbClr val="CBD5E1"/>
                </a:solidFill>
                <a:latin typeface="monospace"/>
              </a:rPr>
              <a:t>So that</a:t>
            </a:r>
            <a:r>
              <a:rPr b="0" sz="1650" i="0" u="none">
                <a:solidFill>
                  <a:srgbClr val="CBD5E1"/>
                </a:solidFill>
                <a:latin typeface="monospace"/>
              </a:rPr>
              <a:t> [reason/benefit]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191000"/>
            <a:ext cx="497062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Montserrat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14850"/>
            <a:ext cx="4733925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1" u="none">
                <a:solidFill>
                  <a:srgbClr val="F8FAFC"/>
                </a:solidFill>
                <a:latin typeface="Inter"/>
              </a:rPr>
              <a:t>"As a student, I want to view my attendance so that I can know my attendance percentage."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User Stories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2637"/>
            <a:ext cx="11029950" cy="4126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100137"/>
            <a:ext cx="11029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 sprint backlog contains the work selected for a particular sprint. It converts planned requirements and user stories into specific, actionable work that the team can execute.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6331297"/>
            <a:ext cx="84201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Inter"/>
              </a:rPr>
              <a:t>Agile practices like sprints, stand-ups, backlogs, and retrospectives work closely with DevOps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0550" y="2062162"/>
            <a:ext cx="11010900" cy="4667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9150" y="2205037"/>
            <a:ext cx="110813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Project: Student Portal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0550" y="2528887"/>
          <a:ext cx="11010899" cy="4009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404270"/>
                <a:gridCol w="6606629"/>
              </a:tblGrid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User 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Development Task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View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Create attendance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View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Create database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View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Create frontend page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View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Add authentication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View attendance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Test attendance 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0550" y="3209925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94820" y="3209925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874740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4820" y="3874740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539555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94820" y="4539555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5204370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4820" y="5204370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5869185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94820" y="5869185"/>
            <a:ext cx="660662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61912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Sprint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7000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100137"/>
            <a:ext cx="5229225" cy="1085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100137"/>
            <a:ext cx="5229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Definition of Done (DoD) specifies the conditions that must be satisfied before a task or user story can be considered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576637"/>
            <a:ext cx="5229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planned Definition of Done gives the team a clear, shared completion standard, ensuring quality before moving to the next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8450" y="1252537"/>
            <a:ext cx="497062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Example — Attendance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8450" y="1728787"/>
            <a:ext cx="47339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feature is considered "Done" when: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1750" y="237648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0" y="2566987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Code is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1750" y="323373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3250" y="3424237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Code is reviewed by a peer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1750" y="409098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0" y="4281487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Automated tests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1750" y="494823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250" y="5138737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Required security checks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1750" y="580548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3250" y="5995987"/>
            <a:ext cx="44672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Feature works as expected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1750" y="6662737"/>
            <a:ext cx="5229225" cy="704850"/>
          </a:xfrm>
          <a:prstGeom prst="roundRect">
            <a:avLst>
              <a:gd name="adj" fmla="val 1081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6853237"/>
            <a:ext cx="4467225" cy="4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Documentation is updated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50" y="307181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81750" y="392906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1750" y="478631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1750" y="564356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1750" y="650081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1750" y="7358062"/>
            <a:ext cx="52292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586037"/>
            <a:ext cx="28575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443287"/>
            <a:ext cx="28575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300537"/>
            <a:ext cx="228600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5157787"/>
            <a:ext cx="22860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6015037"/>
            <a:ext cx="228600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6872287"/>
            <a:ext cx="200025" cy="2476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1025" y="61912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Definition of Done (DoD)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025" y="7000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05062"/>
            <a:ext cx="504825" cy="571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6300" y="2595562"/>
            <a:ext cx="4638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F1F5F9"/>
                </a:solidFill>
                <a:latin typeface="Inter Medium"/>
              </a:rPr>
              <a:t>"Code written" ≠ "Work completed"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09712"/>
            <a:ext cx="6200775" cy="11010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01242"/>
            <a:ext cx="6200775" cy="11010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92773"/>
            <a:ext cx="6200775" cy="11010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975" y="3414712"/>
            <a:ext cx="2857500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975" y="4262437"/>
            <a:ext cx="2857500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0975" y="5110162"/>
            <a:ext cx="2857500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0975" y="5957887"/>
            <a:ext cx="2857500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300" y="1700212"/>
            <a:ext cx="3752850" cy="15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8762" y="3938587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8762" y="4786312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8762" y="5634037"/>
            <a:ext cx="161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1709737"/>
            <a:ext cx="6090761" cy="28575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 Jira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50" y="2081212"/>
            <a:ext cx="5800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50" y="2166937"/>
            <a:ext cx="58007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Used for Requirements, User stories, Sprint planning, and Backlog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001267"/>
            <a:ext cx="6090761" cy="285750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 Azure 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050" y="3372742"/>
            <a:ext cx="5800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050" y="3458467"/>
            <a:ext cx="58007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Used for Work tracking, Backlogs, Planning, and Managing development tasks.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292798"/>
            <a:ext cx="6090761" cy="285750"/>
          </a:xfrm>
          <a:prstGeom prst="rect">
            <a:avLst/>
          </a:prstGeom>
          <a:noFill/>
        </p:spPr>
        <p:txBody>
          <a:bodyPr wrap="square" lIns="295275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8FAFC"/>
                </a:solidFill>
                <a:latin typeface="Montserrat SemiBold"/>
              </a:rPr>
              <a:t> Trello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050" y="4664273"/>
            <a:ext cx="58007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050" y="4749998"/>
            <a:ext cx="58007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Used for Organizing tasks, Tracking work, and Visualizing workflow via Kanban.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1728787"/>
            <a:ext cx="21907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3020317"/>
            <a:ext cx="20002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4311848"/>
            <a:ext cx="200025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1025" y="471487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Tools Used for 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10966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9850"/>
            <a:ext cx="9770268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33850"/>
            <a:ext cx="11029950" cy="127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619250"/>
            <a:ext cx="11029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One of the most important concepts is that the DevOps lifecycle is an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infinity loop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 Planning does not end after development starts. Work does not simply finish and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467100"/>
            <a:ext cx="588073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Continuous Improvement Cycle Example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333875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5808" y="4962525"/>
            <a:ext cx="106013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1F5F9"/>
                </a:solidFill>
                <a:latin typeface="Montserrat"/>
              </a:rPr>
              <a:t>App Deployed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9468" y="4333875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42548" y="4962525"/>
            <a:ext cx="73009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1F5F9"/>
                </a:solidFill>
                <a:latin typeface="Montserrat"/>
              </a:rPr>
              <a:t>Slow Perf.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8337" y="4333875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6388" y="4962525"/>
            <a:ext cx="118014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1F5F9"/>
                </a:solidFill>
                <a:latin typeface="Montserrat"/>
              </a:rPr>
              <a:t>Monitor Detects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656" y="4333875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1713" y="4962525"/>
            <a:ext cx="109013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1F5F9"/>
                </a:solidFill>
                <a:latin typeface="Montserrat"/>
              </a:rPr>
              <a:t>New Req/Story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9912" y="4333875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02979" y="4962525"/>
            <a:ext cx="93011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1F5F9"/>
                </a:solidFill>
                <a:latin typeface="Montserrat"/>
              </a:rPr>
              <a:t>Dev Restarts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0625" y="447675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2343" y="447675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1212" y="4476750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7243" y="4476750"/>
            <a:ext cx="2190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48975" y="4476750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Planning is a Continuous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0065" y="4657725"/>
            <a:ext cx="19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4621" y="4657725"/>
            <a:ext cx="19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803" y="4657725"/>
            <a:ext cx="19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5259" y="4657725"/>
            <a:ext cx="19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05187"/>
            <a:ext cx="11029950" cy="3390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100137"/>
            <a:ext cx="904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Agile and DevOps are closely related. DevOps extends Agile practices into delivery and operations.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" y="3414712"/>
          <a:ext cx="11010900" cy="4009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686300"/>
                <a:gridCol w="6324600"/>
              </a:tblGrid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Agile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8BDF8"/>
                          </a:solidFill>
                          <a:latin typeface="Montserrat SemiBold"/>
                        </a:rPr>
                        <a:t>DevOps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Focuses mainly on </a:t>
                      </a:r>
                      <a:r>
                        <a:rPr b="1" sz="1350" i="0" u="none">
                          <a:solidFill>
                            <a:srgbClr val="CBD5E1"/>
                          </a:solidFill>
                          <a:latin typeface="Inter"/>
                        </a:rPr>
                        <a:t>development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Focuses on complete </a:t>
                      </a:r>
                      <a:r>
                        <a:rPr b="1" sz="1350" i="0" u="none">
                          <a:solidFill>
                            <a:srgbClr val="CBD5E1"/>
                          </a:solidFill>
                          <a:latin typeface="Inter"/>
                        </a:rPr>
                        <a:t>delivery and operations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Uses sprints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Uses CI/CD and automation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Uses backlog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Uses backlog + delivery pipeline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Customer/product feedback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Customer + production monitoring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31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Sprint-sized releases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Inter"/>
                        </a:rPr>
                        <a:t>Very small and frequent releases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4095750"/>
            <a:ext cx="4686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76850" y="4095750"/>
            <a:ext cx="6324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4760565"/>
            <a:ext cx="4686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76850" y="4760565"/>
            <a:ext cx="6324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5425380"/>
            <a:ext cx="4686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76850" y="5425380"/>
            <a:ext cx="6324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6090195"/>
            <a:ext cx="4686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76850" y="6090195"/>
            <a:ext cx="6324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6755010"/>
            <a:ext cx="46863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76850" y="6755010"/>
            <a:ext cx="6324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025" y="61912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Agile and DevOps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7000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357" y="1890712"/>
            <a:ext cx="3429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7857" y="2081212"/>
            <a:ext cx="933628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1F5F9"/>
                </a:solidFill>
                <a:latin typeface="Inter Medium"/>
              </a:rPr>
              <a:t>"Agile helps the team develop the right software quickly, while DevOps helps deliver and operate that software reliably."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557712"/>
            <a:ext cx="6389340" cy="1885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365" y="1262062"/>
            <a:ext cx="4259609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262062"/>
            <a:ext cx="638934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Planning in DevOps also involves planning infrastructure.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Infrastructure as Code (IaC)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means defining infrastructure (servers, networks, databases) using machine-readable configuration files instead of manual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671762"/>
            <a:ext cx="670880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Main Advantages: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1480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1480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Repeatable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5671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5671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Version controlled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9862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9862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1345" y="31480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6120" y="31480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1345" y="35671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6120" y="35671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Self-documenting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1345" y="39862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6120" y="3986212"/>
            <a:ext cx="300409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Reduces config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710112"/>
            <a:ext cx="618874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8FAFC"/>
                </a:solidFill>
                <a:latin typeface="Montserrat SemiBold"/>
              </a:rPr>
              <a:t>Key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5186362"/>
            <a:ext cx="589404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Terraform: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Infrastructure provisioning (e.g., using 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terraform plan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to preview changes before applying).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5986462"/>
            <a:ext cx="58940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Ansible: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Configuration management.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390" y="1462087"/>
            <a:ext cx="3859559" cy="3409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223837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Infrastructure Planning with IaC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86201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243012"/>
            <a:ext cx="28575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843087"/>
            <a:ext cx="28575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2443162"/>
            <a:ext cx="28575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3043237"/>
            <a:ext cx="28575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3643312"/>
            <a:ext cx="28575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4243387"/>
            <a:ext cx="28575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4843462"/>
            <a:ext cx="28575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3024187"/>
            <a:ext cx="28575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3624262"/>
            <a:ext cx="28575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4224337"/>
            <a:ext cx="28575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4824412"/>
            <a:ext cx="28575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5424487"/>
            <a:ext cx="28575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48375" y="1719262"/>
            <a:ext cx="4286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6787" y="6157912"/>
            <a:ext cx="102584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8BDF8"/>
                </a:solidFill>
                <a:latin typeface="Inter SemiBold"/>
              </a:rPr>
              <a:t>The crucial DevOps concept: Monitoring and production feedback return to planning, creating a continuous loop.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63353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2233612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283368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9600" y="3433762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9600" y="403383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9600" y="4633912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281463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3414712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8100" y="401478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8100" y="4614862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5214937"/>
            <a:ext cx="114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1652587"/>
            <a:ext cx="762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1025" y="204787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Complete Planning Workflow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84296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081212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8BDF8"/>
                </a:solidFill>
                <a:latin typeface="Montserrat SemiBold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557462"/>
            <a:ext cx="5229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Planning is the foundation of the DevOps lifecycle. It helps the team understand, prioritize, organize, and eventually develop and monitor software effectively.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662362"/>
            <a:ext cx="54906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38BDF8"/>
                </a:solidFill>
                <a:latin typeface="Montserrat SemiBold"/>
              </a:rPr>
              <a:t>Focus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41386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138612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Requirements &amp; User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5577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557712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Sprint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976812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Definition of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53959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395912"/>
            <a:ext cx="500062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Utilizing tools like Jira, Azure Boards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904232"/>
            <a:ext cx="714375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2275" y="3094732"/>
            <a:ext cx="4448175" cy="170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0" u="none">
                <a:solidFill>
                  <a:srgbClr val="F1F5F9"/>
                </a:solidFill>
                <a:latin typeface="Inter Medium"/>
              </a:rPr>
              <a:t>"In DevOps, planning is not a one-time activity; it is a continuous cycle of learning, delivering and improving."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619250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404020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39449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239449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179266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179266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6867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1762125"/>
            <a:ext cx="66865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https://www.manageengine.com/products/service-desk/images/devops-lifecycle-diagram.png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007840"/>
            <a:ext cx="66865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www.manageengine.com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53444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2546895"/>
            <a:ext cx="66865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https://unito.io/wp-content/uploads/2022/08/Group-1087616.png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2792610"/>
            <a:ext cx="66865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unito.io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338214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3331666"/>
            <a:ext cx="66865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https://maplewoodu.edulink.cc/wp-content/uploads/2026/04/deployment-diagrams-hand-drawn-infographic.jpg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577381"/>
            <a:ext cx="66865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maplewoodu.edulink.cc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8BDF8"/>
                </a:solidFill>
                <a:latin typeface="Montserrat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