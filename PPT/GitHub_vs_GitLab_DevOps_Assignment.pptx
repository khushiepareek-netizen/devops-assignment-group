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2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0"/>
            <a:ext cx="109728" cy="6858000"/>
          </a:xfrm>
          <a:prstGeom prst="rect">
            <a:avLst/>
          </a:prstGeom>
          <a:solidFill>
            <a:srgbClr val="6C4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FFFFFF"/>
                </a:solidFill>
              </a:rPr>
              <a:t>GitHub vs GitLab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788920"/>
            <a:ext cx="8961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DD2DC"/>
                </a:solidFill>
              </a:rPr>
              <a:t>A DevOps-focused comparison of collaboration, CI/CD, security and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8463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7DAAFF"/>
                </a:solidFill>
              </a:rPr>
              <a:t>DEVOPS 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1C2D"/>
                </a:solidFill>
              </a:rPr>
              <a:t>What are GitHub and GitLab?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97180"/>
                </a:solidFill>
              </a:rPr>
              <a:t>Both are Git-based platforms, but their DevOps strengths differ.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4924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73152" cy="4069080"/>
          </a:xfrm>
          <a:prstGeom prst="rect">
            <a:avLst/>
          </a:prstGeom>
          <a:solidFill>
            <a:srgbClr val="32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41C2D"/>
                </a:solidFill>
              </a:rPr>
              <a:t>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93775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262D3A"/>
                </a:solidFill>
              </a:rPr>
              <a:t>A cloud platform centered on Git repositories, collaboration and the open-source ecosystem.
• Pull requests and code review
• GitHub Actions for CI/CD
• Large developer community
• Strong integrations and marketplace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34924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73152" cy="4069080"/>
          </a:xfrm>
          <a:prstGeom prst="rect">
            <a:avLst/>
          </a:prstGeom>
          <a:solidFill>
            <a:srgbClr val="6C4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41C2D"/>
                </a:solidFill>
              </a:rPr>
              <a:t>GitLab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423160"/>
            <a:ext cx="493775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262D3A"/>
                </a:solidFill>
              </a:rPr>
              <a:t>A DevOps platform designed to cover more of the software lifecycle in one integrated product.
• Source code management
• Built-in CI/CD pipelines
• Security and DevSecOps features
• Planning, deployment and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180"/>
                </a:solidFill>
              </a:rPr>
              <a:t>DevOps Assignment  •  GitHub vs GitLab  • 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1C2D"/>
                </a:solidFill>
              </a:rPr>
              <a:t>Key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97180"/>
                </a:solidFill>
              </a:rPr>
              <a:t>The biggest difference is the overall DevOps approach.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1828800" cy="548640"/>
          </a:xfrm>
          <a:prstGeom prst="rect">
            <a:avLst/>
          </a:prstGeom>
          <a:solidFill>
            <a:srgbClr val="141C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609344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Area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508760"/>
            <a:ext cx="4434840" cy="548640"/>
          </a:xfrm>
          <a:prstGeom prst="rect">
            <a:avLst/>
          </a:prstGeom>
          <a:solidFill>
            <a:srgbClr val="141C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32888" y="1609344"/>
            <a:ext cx="4251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508760"/>
            <a:ext cx="4709160" cy="548640"/>
          </a:xfrm>
          <a:prstGeom prst="rect">
            <a:avLst/>
          </a:prstGeom>
          <a:solidFill>
            <a:srgbClr val="141C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1609344"/>
            <a:ext cx="4526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GitLab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75688"/>
            <a:ext cx="1828800" cy="667512"/>
          </a:xfrm>
          <a:prstGeom prst="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1945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62D3A"/>
                </a:solidFill>
              </a:rPr>
              <a:t>Collaboration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2075688"/>
            <a:ext cx="4434840" cy="667512"/>
          </a:xfrm>
          <a:prstGeom prst="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32888" y="2194560"/>
            <a:ext cx="4251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62D3A"/>
                </a:solidFill>
              </a:rPr>
              <a:t>Excellent PRs, reviews &amp; community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075688"/>
            <a:ext cx="4709160" cy="667512"/>
          </a:xfrm>
          <a:prstGeom prst="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2194560"/>
            <a:ext cx="4526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62D3A"/>
                </a:solidFill>
              </a:rPr>
              <a:t>Strong reviews + integrated planning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761488"/>
            <a:ext cx="1828800" cy="667512"/>
          </a:xfrm>
          <a:prstGeom prst="rect">
            <a:avLst/>
          </a:prstGeom>
          <a:solidFill>
            <a:srgbClr val="EFF2F7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28803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62D3A"/>
                </a:solidFill>
              </a:rPr>
              <a:t>CI/CD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761488"/>
            <a:ext cx="4434840" cy="667512"/>
          </a:xfrm>
          <a:prstGeom prst="rect">
            <a:avLst/>
          </a:prstGeom>
          <a:solidFill>
            <a:srgbClr val="EFF2F7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32888" y="2880360"/>
            <a:ext cx="4251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62D3A"/>
                </a:solidFill>
              </a:rPr>
              <a:t>GitHub Actions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761488"/>
            <a:ext cx="4709160" cy="667512"/>
          </a:xfrm>
          <a:prstGeom prst="rect">
            <a:avLst/>
          </a:prstGeom>
          <a:solidFill>
            <a:srgbClr val="EFF2F7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2880360"/>
            <a:ext cx="4526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62D3A"/>
                </a:solidFill>
              </a:rPr>
              <a:t>GitLab CI/CD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447288"/>
            <a:ext cx="1828800" cy="667512"/>
          </a:xfrm>
          <a:prstGeom prst="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5661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62D3A"/>
                </a:solidFill>
              </a:rPr>
              <a:t>DevOps scope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23160" y="3447288"/>
            <a:ext cx="4434840" cy="667512"/>
          </a:xfrm>
          <a:prstGeom prst="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32888" y="3566160"/>
            <a:ext cx="4251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62D3A"/>
                </a:solidFill>
              </a:rPr>
              <a:t>Broad ecosystem; many integrations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447288"/>
            <a:ext cx="4709160" cy="667512"/>
          </a:xfrm>
          <a:prstGeom prst="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67728" y="3566160"/>
            <a:ext cx="4526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62D3A"/>
                </a:solidFill>
              </a:rPr>
              <a:t>More end-to-end in one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133087"/>
            <a:ext cx="1828800" cy="667512"/>
          </a:xfrm>
          <a:prstGeom prst="rect">
            <a:avLst/>
          </a:prstGeom>
          <a:solidFill>
            <a:srgbClr val="EFF2F7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4251959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62D3A"/>
                </a:solidFill>
              </a:rPr>
              <a:t>Security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23160" y="4133087"/>
            <a:ext cx="4434840" cy="667512"/>
          </a:xfrm>
          <a:prstGeom prst="rect">
            <a:avLst/>
          </a:prstGeom>
          <a:solidFill>
            <a:srgbClr val="EFF2F7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32888" y="4251959"/>
            <a:ext cx="4251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62D3A"/>
                </a:solidFill>
              </a:rPr>
              <a:t>Advanced security options available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133087"/>
            <a:ext cx="4709160" cy="667512"/>
          </a:xfrm>
          <a:prstGeom prst="rect">
            <a:avLst/>
          </a:prstGeom>
          <a:solidFill>
            <a:srgbClr val="EFF2F7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7728" y="4251959"/>
            <a:ext cx="4526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62D3A"/>
                </a:solidFill>
              </a:rPr>
              <a:t>Strong built-in DevSecOps focus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4818888"/>
            <a:ext cx="1828800" cy="667512"/>
          </a:xfrm>
          <a:prstGeom prst="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4937759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62D3A"/>
                </a:solidFill>
              </a:rPr>
              <a:t>Self-hosting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23160" y="4818888"/>
            <a:ext cx="4434840" cy="667512"/>
          </a:xfrm>
          <a:prstGeom prst="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32888" y="4937759"/>
            <a:ext cx="4251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62D3A"/>
                </a:solidFill>
              </a:rPr>
              <a:t>GitHub Enterprise Server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4818888"/>
            <a:ext cx="4709160" cy="667512"/>
          </a:xfrm>
          <a:prstGeom prst="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67728" y="4937759"/>
            <a:ext cx="4526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62D3A"/>
                </a:solidFill>
              </a:rPr>
              <a:t>GitLab Self-Managed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5504688"/>
            <a:ext cx="1828800" cy="667512"/>
          </a:xfrm>
          <a:prstGeom prst="rect">
            <a:avLst/>
          </a:prstGeom>
          <a:solidFill>
            <a:srgbClr val="EFF2F7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" y="5623559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62D3A"/>
                </a:solidFill>
              </a:rPr>
              <a:t>Ecosystem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23160" y="5504688"/>
            <a:ext cx="4434840" cy="667512"/>
          </a:xfrm>
          <a:prstGeom prst="rect">
            <a:avLst/>
          </a:prstGeom>
          <a:solidFill>
            <a:srgbClr val="EFF2F7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32888" y="5623559"/>
            <a:ext cx="4251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62D3A"/>
                </a:solidFill>
              </a:rPr>
              <a:t>Very large open-source community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5504688"/>
            <a:ext cx="4709160" cy="667512"/>
          </a:xfrm>
          <a:prstGeom prst="rect">
            <a:avLst/>
          </a:prstGeom>
          <a:solidFill>
            <a:srgbClr val="EFF2F7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67728" y="5623559"/>
            <a:ext cx="4526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62D3A"/>
                </a:solidFill>
              </a:rPr>
              <a:t>Strong enterprise DevOps adoption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180"/>
                </a:solidFill>
              </a:rPr>
              <a:t>DevOps Assignment  •  GitHub vs GitLab  • 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1C2D"/>
                </a:solidFill>
              </a:rPr>
              <a:t>DevOps &amp;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97180"/>
                </a:solidFill>
              </a:rPr>
              <a:t>How each platform supports the build → test → deploy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3492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73152" cy="4343400"/>
          </a:xfrm>
          <a:prstGeom prst="rect">
            <a:avLst/>
          </a:prstGeom>
          <a:solidFill>
            <a:srgbClr val="32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39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41C2D"/>
                </a:solidFill>
              </a:rPr>
              <a:t>GitHub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493775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262D3A"/>
                </a:solidFill>
              </a:rPr>
              <a:t>Workflow files define automated jobs triggered by pushes, pull requests, schedules or other events.
Typical flow:
Code → Build → Test → Security Checks → Deploy
Best fit: teams that want flexible automation and a huge action/integration ecosystem.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3492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73152" cy="4343400"/>
          </a:xfrm>
          <a:prstGeom prst="rect">
            <a:avLst/>
          </a:prstGeom>
          <a:solidFill>
            <a:srgbClr val="6C4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91639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41C2D"/>
                </a:solidFill>
              </a:rPr>
              <a:t>GitLab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493775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262D3A"/>
                </a:solidFill>
              </a:rPr>
              <a:t>Pipelines are defined in a repository configuration file and can use runners to execute jobs.
Typical flow:
Code → Build → Test → Security → Deploy → Monitor
Best fit: teams wanting a more integrated DevOps platform with CI/CD at its 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989320"/>
            <a:ext cx="1828800" cy="365760"/>
          </a:xfrm>
          <a:prstGeom prst="roundRect">
            <a:avLst/>
          </a:prstGeom>
          <a:solidFill>
            <a:srgbClr val="E5EBFA"/>
          </a:solidFill>
          <a:ln>
            <a:solidFill>
              <a:srgbClr val="C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044184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41C2D"/>
                </a:solidFill>
              </a:rPr>
              <a:t>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5989320"/>
            <a:ext cx="1828800" cy="365760"/>
          </a:xfrm>
          <a:prstGeom prst="roundRect">
            <a:avLst/>
          </a:prstGeom>
          <a:solidFill>
            <a:srgbClr val="E5EBFA"/>
          </a:solidFill>
          <a:ln>
            <a:solidFill>
              <a:srgbClr val="C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6044184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41C2D"/>
                </a:solidFill>
              </a:rPr>
              <a:t>BUILD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5989320"/>
            <a:ext cx="1828800" cy="365760"/>
          </a:xfrm>
          <a:prstGeom prst="roundRect">
            <a:avLst/>
          </a:prstGeom>
          <a:solidFill>
            <a:srgbClr val="E5EBFA"/>
          </a:solidFill>
          <a:ln>
            <a:solidFill>
              <a:srgbClr val="C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6044184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41C2D"/>
                </a:solidFill>
              </a:rPr>
              <a:t>TEST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5989320"/>
            <a:ext cx="1828800" cy="365760"/>
          </a:xfrm>
          <a:prstGeom prst="roundRect">
            <a:avLst/>
          </a:prstGeom>
          <a:solidFill>
            <a:srgbClr val="E5EBFA"/>
          </a:solidFill>
          <a:ln>
            <a:solidFill>
              <a:srgbClr val="C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6044184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41C2D"/>
                </a:solidFill>
              </a:rPr>
              <a:t>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180"/>
                </a:solidFill>
              </a:rPr>
              <a:t>DevOps Assignment  •  GitHub vs GitLab  • 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41C2D"/>
                </a:solidFill>
              </a:rPr>
              <a:t>Security, Deployment &amp;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97180"/>
                </a:solidFill>
              </a:rPr>
              <a:t>Choose based on team needs, governance and how integrated you want DevOps to be.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4526280"/>
          </a:xfrm>
          <a:prstGeom prst="rect">
            <a:avLst/>
          </a:prstGeom>
          <a:solidFill>
            <a:srgbClr val="32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41C2D"/>
                </a:solidFill>
              </a:rPr>
              <a:t>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0632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262D3A"/>
                </a:solidFill>
              </a:rPr>
              <a:t>• Excellent for open source
• Strong developer collaboration
• Flexible CI/CD through Actions
• Massive integration ecosystem
• Good choice for Git-centric workflows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41732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417320"/>
            <a:ext cx="73152" cy="4526280"/>
          </a:xfrm>
          <a:prstGeom prst="rect">
            <a:avLst/>
          </a:prstGeom>
          <a:solidFill>
            <a:srgbClr val="6C4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00200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41C2D"/>
                </a:solidFill>
              </a:rPr>
              <a:t>GitLab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103120"/>
            <a:ext cx="30632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262D3A"/>
                </a:solidFill>
              </a:rPr>
              <a:t>• Strong DevSecOps orientation
• Integrated CI/CD experience
• Self-managed option
• Broad lifecycle coverage
• Good choice for unified DevOps workflows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41732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417320"/>
            <a:ext cx="73152" cy="4526280"/>
          </a:xfrm>
          <a:prstGeom prst="rect">
            <a:avLst/>
          </a:prstGeom>
          <a:solidFill>
            <a:srgbClr val="2A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1600200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41C2D"/>
                </a:solidFill>
              </a:rPr>
              <a:t>Common Ground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103120"/>
            <a:ext cx="30632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262D3A"/>
                </a:solidFill>
              </a:rPr>
              <a:t>• Git repositories
• Branching &amp; merging
• Code reviews
• Issue/project tracking
• Automation &amp; integrations
• Enterprise capabilities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180"/>
                </a:solidFill>
              </a:rPr>
              <a:t>DevOps Assignment  •  GitHub vs GitLab  • 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DD2DC"/>
                </a:solidFill>
              </a:rPr>
              <a:t>There is no universal winner — the right choice depends on the DevOps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</a:defRPr>
            </a:pPr>
            <a:r>
              <a:t>• Choose GitHub when collaboration, open source and ecosystem breadth are priorities.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</a:defRPr>
            </a:pPr>
            <a:r>
              <a:t>• Choose GitLab when an integrated, end-to-end DevOps platform is the priority.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</a:defRPr>
            </a:pPr>
            <a:r>
              <a:t>• Both can support modern CI/CD, automation, code review and enterprise development.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</a:defRPr>
            </a:pPr>
            <a:r>
              <a:t>• For DevOps teams, the key decision is how much of the software lifecycle you want in one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983480"/>
            <a:ext cx="10058400" cy="777240"/>
          </a:xfrm>
          <a:prstGeom prst="roundRect">
            <a:avLst/>
          </a:prstGeom>
          <a:solidFill>
            <a:srgbClr val="2D3A55"/>
          </a:solidFill>
          <a:ln>
            <a:solidFill>
              <a:srgbClr val="4B5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5184648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Key takeaway: GitHub emphasizes ecosystem + collaboration; GitLab emphasizes integrated DevOps.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180"/>
                </a:solidFill>
              </a:rPr>
              <a:t>DevOps Assignment  •  GitHub vs GitLab  • 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