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bubble3D val="0"/>
            <c:spPr>
              <a:solidFill>
                <a:srgbClr val="0EA5E9"/>
              </a:solidFill>
              <a:effectLst/>
            </c:spPr>
          </c:dPt>
          <c:dPt>
            <c:idx val="6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Plan</c:v>
                </c:pt>
                <c:pt idx="1">
                  <c:v>Code</c:v>
                </c:pt>
                <c:pt idx="2">
                  <c:v>Build</c:v>
                </c:pt>
                <c:pt idx="3">
                  <c:v>Test</c:v>
                </c:pt>
                <c:pt idx="4">
                  <c:v>Release</c:v>
                </c:pt>
                <c:pt idx="5">
                  <c:v>Deploy</c:v>
                </c:pt>
                <c:pt idx="6">
                  <c:v>Operate</c:v>
                </c:pt>
                <c:pt idx="7">
                  <c:v>Monitor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>
              <a:alpha val="72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856" y="278606"/>
            <a:ext cx="1347788" cy="13477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6834" y="3151584"/>
            <a:ext cx="1602581" cy="1602581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1266" y="410766"/>
            <a:ext cx="1178719" cy="1178719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1957" y="1815852"/>
            <a:ext cx="114300" cy="1143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933813" y="1794421"/>
            <a:ext cx="14573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</a:t>
            </a:r>
            <a:endParaRPr lang="en-US" sz="800" dirty="0"/>
          </a:p>
        </p:txBody>
      </p:sp>
      <p:sp>
        <p:nvSpPr>
          <p:cNvPr id="10" name="Text 3"/>
          <p:cNvSpPr/>
          <p:nvPr/>
        </p:nvSpPr>
        <p:spPr>
          <a:xfrm>
            <a:off x="1983581" y="2057400"/>
            <a:ext cx="517683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 and Its Tools</a:t>
            </a:r>
            <a:endParaRPr lang="en-US" sz="2700" dirty="0"/>
          </a:p>
        </p:txBody>
      </p:sp>
      <p:sp>
        <p:nvSpPr>
          <p:cNvPr id="11" name="Text 4"/>
          <p:cNvSpPr/>
          <p:nvPr/>
        </p:nvSpPr>
        <p:spPr>
          <a:xfrm>
            <a:off x="1952625" y="2539454"/>
            <a:ext cx="5238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connected workflow for faster releases, safer changes, and continuous operational visibility.</a:t>
            </a:r>
            <a:endParaRPr lang="en-US" sz="12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9437" y="3249067"/>
            <a:ext cx="123825" cy="1238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300475" y="3225254"/>
            <a:ext cx="48101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</a:t>
            </a:r>
            <a:endParaRPr lang="en-US" sz="9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1571" y="3249067"/>
            <a:ext cx="123825" cy="1238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62992" y="3225254"/>
            <a:ext cx="7048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</a:t>
            </a:r>
            <a:endParaRPr lang="en-US" sz="9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8314" y="3249067"/>
            <a:ext cx="123825" cy="12382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248780" y="3225254"/>
            <a:ext cx="77628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Observability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Shape 3"/>
          <p:cNvSpPr/>
          <p:nvPr/>
        </p:nvSpPr>
        <p:spPr>
          <a:xfrm>
            <a:off x="400993" y="333375"/>
            <a:ext cx="947737" cy="266700"/>
          </a:xfrm>
          <a:prstGeom prst="roundRect">
            <a:avLst>
              <a:gd name="adj" fmla="val 42857"/>
            </a:avLst>
          </a:prstGeom>
          <a:solidFill>
            <a:srgbClr val="102A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409575"/>
            <a:ext cx="114300" cy="114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7225" y="396873"/>
            <a:ext cx="606721" cy="139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B8A6"/>
                </a:solidFill>
                <a:highlight>
                  <a:srgbClr val="102A43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0050" y="666452"/>
            <a:ext cx="466725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DevOps basics to the working flow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00050" y="1432917"/>
            <a:ext cx="46672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preview of the journey: lifecycle, tools, tradeoffs, and a practical example.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0050" y="2123629"/>
            <a:ext cx="4095750" cy="1262063"/>
          </a:xfrm>
          <a:prstGeom prst="roundRect">
            <a:avLst>
              <a:gd name="adj" fmla="val 7655"/>
            </a:avLst>
          </a:prstGeom>
          <a:solidFill>
            <a:srgbClr val="0B1F33"/>
          </a:solidFill>
          <a:ln/>
        </p:spPr>
      </p:sp>
      <p:sp>
        <p:nvSpPr>
          <p:cNvPr id="11" name="Shape 8"/>
          <p:cNvSpPr/>
          <p:nvPr/>
        </p:nvSpPr>
        <p:spPr>
          <a:xfrm>
            <a:off x="561975" y="2285405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1232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52080"/>
            <a:ext cx="133350" cy="133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226" y="2325886"/>
            <a:ext cx="15811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DevOps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61975" y="2703872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DevOps changes, why it matters, and how teams think differently.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48200" y="2123629"/>
            <a:ext cx="4095750" cy="1262063"/>
          </a:xfrm>
          <a:prstGeom prst="roundRect">
            <a:avLst>
              <a:gd name="adj" fmla="val 7655"/>
            </a:avLst>
          </a:prstGeom>
          <a:solidFill>
            <a:srgbClr val="0B1F33"/>
          </a:solidFill>
          <a:ln/>
        </p:spPr>
      </p:sp>
      <p:sp>
        <p:nvSpPr>
          <p:cNvPr id="16" name="Shape 12"/>
          <p:cNvSpPr/>
          <p:nvPr/>
        </p:nvSpPr>
        <p:spPr>
          <a:xfrm>
            <a:off x="4810125" y="2285405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1232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352080"/>
            <a:ext cx="133350" cy="1333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20310" y="2325886"/>
            <a:ext cx="14620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the lifecycle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810125" y="2703872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the DevOps lifecycle from planning through release and feedback.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00050" y="3538389"/>
            <a:ext cx="4095750" cy="1262063"/>
          </a:xfrm>
          <a:prstGeom prst="roundRect">
            <a:avLst>
              <a:gd name="adj" fmla="val 7655"/>
            </a:avLst>
          </a:prstGeom>
          <a:solidFill>
            <a:srgbClr val="0B1F33"/>
          </a:solidFill>
          <a:ln/>
        </p:spPr>
      </p:sp>
      <p:sp>
        <p:nvSpPr>
          <p:cNvPr id="21" name="Shape 16"/>
          <p:cNvSpPr/>
          <p:nvPr/>
        </p:nvSpPr>
        <p:spPr>
          <a:xfrm>
            <a:off x="561975" y="3700165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1232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66840"/>
            <a:ext cx="133350" cy="1333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1131" y="3740646"/>
            <a:ext cx="17716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Tools, benefits, challenges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61975" y="4118632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platform pieces, the gains they unlock, and the friction to manage.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48200" y="3538389"/>
            <a:ext cx="4095750" cy="1262063"/>
          </a:xfrm>
          <a:prstGeom prst="roundRect">
            <a:avLst>
              <a:gd name="adj" fmla="val 7655"/>
            </a:avLst>
          </a:prstGeom>
          <a:solidFill>
            <a:srgbClr val="0B1F33"/>
          </a:solidFill>
          <a:ln/>
        </p:spPr>
      </p:sp>
      <p:sp>
        <p:nvSpPr>
          <p:cNvPr id="26" name="Shape 20"/>
          <p:cNvSpPr/>
          <p:nvPr/>
        </p:nvSpPr>
        <p:spPr>
          <a:xfrm>
            <a:off x="4810125" y="3700165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1232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3766840"/>
            <a:ext cx="133350" cy="1333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68652" y="3740646"/>
            <a:ext cx="171450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and conclusion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810125" y="4296742"/>
            <a:ext cx="2476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with an example pipeline that connects the full story end to end.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34318"/>
            <a:ext cx="58102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25089"/>
            <a:ext cx="466725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unifies software building and running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00050" y="1253082"/>
            <a:ext cx="495300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collaborative operating model that speeds delivery without sacrificing quality.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9852" y="1914796"/>
            <a:ext cx="3986213" cy="2886075"/>
          </a:xfrm>
          <a:prstGeom prst="roundRect">
            <a:avLst>
              <a:gd name="adj" fmla="val 1778"/>
            </a:avLst>
          </a:prstGeom>
          <a:ln/>
          <a:effectLst>
            <a:outerShdw sx="100000" sy="100000" kx="0" ky="0" algn="bl" rotWithShape="0" blurRad="285750" dist="85725" dir="5400000">
              <a:srgbClr val="000000">
                <a:alpha val="2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852" y="1914796"/>
            <a:ext cx="3986213" cy="28860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95611" y="1914251"/>
            <a:ext cx="4148137" cy="647700"/>
          </a:xfrm>
          <a:prstGeom prst="roundRect">
            <a:avLst>
              <a:gd name="adj" fmla="val 29066"/>
            </a:avLst>
          </a:prstGeom>
          <a:solidFill>
            <a:srgbClr val="102A43"/>
          </a:solidFill>
          <a:ln/>
        </p:spPr>
      </p:sp>
      <p:sp>
        <p:nvSpPr>
          <p:cNvPr id="11" name="Shape 8"/>
          <p:cNvSpPr/>
          <p:nvPr/>
        </p:nvSpPr>
        <p:spPr>
          <a:xfrm>
            <a:off x="4738288" y="205794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675" y="2110332"/>
            <a:ext cx="123825" cy="1238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51459" y="2056890"/>
            <a:ext cx="30241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+ operations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51459" y="2260860"/>
            <a:ext cx="30241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 align around the same software outcome.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95611" y="2665088"/>
            <a:ext cx="4148137" cy="647700"/>
          </a:xfrm>
          <a:prstGeom prst="roundRect">
            <a:avLst>
              <a:gd name="adj" fmla="val 29066"/>
            </a:avLst>
          </a:prstGeom>
          <a:solidFill>
            <a:srgbClr val="102A43"/>
          </a:solidFill>
          <a:ln/>
        </p:spPr>
      </p:sp>
      <p:sp>
        <p:nvSpPr>
          <p:cNvPr id="16" name="Shape 12"/>
          <p:cNvSpPr/>
          <p:nvPr/>
        </p:nvSpPr>
        <p:spPr>
          <a:xfrm>
            <a:off x="4738288" y="2808782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75" y="2861170"/>
            <a:ext cx="123825" cy="1238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51472" y="2807728"/>
            <a:ext cx="3248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and automation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51472" y="3011698"/>
            <a:ext cx="3248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workflows reduce manual handoffs and drift.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95611" y="3415926"/>
            <a:ext cx="4148137" cy="647700"/>
          </a:xfrm>
          <a:prstGeom prst="roundRect">
            <a:avLst>
              <a:gd name="adj" fmla="val 29066"/>
            </a:avLst>
          </a:prstGeom>
          <a:solidFill>
            <a:srgbClr val="102A43"/>
          </a:solidFill>
          <a:ln/>
        </p:spPr>
      </p:sp>
      <p:sp>
        <p:nvSpPr>
          <p:cNvPr id="21" name="Shape 16"/>
          <p:cNvSpPr/>
          <p:nvPr/>
        </p:nvSpPr>
        <p:spPr>
          <a:xfrm>
            <a:off x="4738288" y="355962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675" y="3612007"/>
            <a:ext cx="123825" cy="1238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53716" y="3558566"/>
            <a:ext cx="32051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delivery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53716" y="3762536"/>
            <a:ext cx="32051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Smaller releases move faster, with more confidence.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95611" y="4195190"/>
            <a:ext cx="4148137" cy="828675"/>
          </a:xfrm>
          <a:prstGeom prst="roundRect">
            <a:avLst>
              <a:gd name="adj" fmla="val 17757"/>
            </a:avLst>
          </a:prstGeom>
          <a:solidFill>
            <a:srgbClr val="0B1F33"/>
          </a:solidFill>
          <a:ln/>
        </p:spPr>
      </p:sp>
      <p:sp>
        <p:nvSpPr>
          <p:cNvPr id="26" name="Shape 20"/>
          <p:cNvSpPr/>
          <p:nvPr/>
        </p:nvSpPr>
        <p:spPr>
          <a:xfrm>
            <a:off x="4738288" y="4329508"/>
            <a:ext cx="200025" cy="200025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913" y="4377133"/>
            <a:ext cx="104775" cy="1047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14513" y="4328540"/>
            <a:ext cx="2667000" cy="561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is less a team structure than a disciplined way to ship reliable software continuously.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43843"/>
            <a:ext cx="5619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LIFECYCLE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35941"/>
            <a:ext cx="52387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DevOps Planning?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0050" y="912837"/>
            <a:ext cx="46672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organizes work before coding begins so the team knows what to do, who owns it, and how delivery stays smooth.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0286" y="1574416"/>
            <a:ext cx="4676775" cy="2652713"/>
          </a:xfrm>
          <a:prstGeom prst="roundRect">
            <a:avLst>
              <a:gd name="adj" fmla="val 1733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01600" dist="50800" dir="16200000">
              <a:srgbClr val="14B8A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" y="1834851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42317" y="1784846"/>
            <a:ext cx="30527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turns intent into a clear 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066304"/>
            <a:ext cx="3619500" cy="828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defines the tasks, priorities, and responsibilities before the build starts. That shared plan helps teams avoid delays, reduce confusion, and move through the lifecycle with less friction.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278" y="3727140"/>
            <a:ext cx="1328738" cy="309562"/>
          </a:xfrm>
          <a:prstGeom prst="roundRect">
            <a:avLst>
              <a:gd name="adj" fmla="val 20450"/>
            </a:avLst>
          </a:prstGeom>
          <a:solidFill>
            <a:srgbClr val="102A4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3829520"/>
            <a:ext cx="104775" cy="1047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75978" y="3812865"/>
            <a:ext cx="9572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ownership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24470" y="3727140"/>
            <a:ext cx="1304925" cy="309562"/>
          </a:xfrm>
          <a:prstGeom prst="roundRect">
            <a:avLst>
              <a:gd name="adj" fmla="val 20450"/>
            </a:avLst>
          </a:prstGeom>
          <a:solidFill>
            <a:srgbClr val="102A4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191" y="3829520"/>
            <a:ext cx="104775" cy="1047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91170" y="3812865"/>
            <a:ext cx="9334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Prioritized work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15230" y="3727140"/>
            <a:ext cx="1300163" cy="309562"/>
          </a:xfrm>
          <a:prstGeom prst="roundRect">
            <a:avLst>
              <a:gd name="adj" fmla="val 20450"/>
            </a:avLst>
          </a:prstGeom>
          <a:solidFill>
            <a:srgbClr val="102A4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948" y="3829520"/>
            <a:ext cx="104775" cy="1047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81930" y="3812865"/>
            <a:ext cx="9286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surprises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86609" y="1574416"/>
            <a:ext cx="3457575" cy="2652713"/>
          </a:xfrm>
          <a:prstGeom prst="roundRect">
            <a:avLst>
              <a:gd name="adj" fmla="val 1733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01600" dist="50800" dir="16200000">
              <a:srgbClr val="3B82F6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449179" y="1737221"/>
            <a:ext cx="92392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view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504" y="1763413"/>
            <a:ext cx="95250" cy="952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89379" y="1752302"/>
            <a:ext cx="692646" cy="11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coding</a:t>
            </a:r>
            <a:endParaRPr lang="en-US" sz="7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534" y="1990104"/>
            <a:ext cx="3133725" cy="24765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00050" y="4416028"/>
            <a:ext cx="8343900" cy="423862"/>
          </a:xfrm>
          <a:prstGeom prst="roundRect">
            <a:avLst>
              <a:gd name="adj" fmla="val 13332"/>
            </a:avLst>
          </a:prstGeom>
          <a:solidFill>
            <a:srgbClr val="102A43"/>
          </a:solidFill>
          <a:ln/>
          <a:effectLst>
            <a:outerShdw sx="100000" sy="100000" kx="0" ky="0" algn="bl" rotWithShape="0" blurRad="101600" dist="50800" dir="16200000">
              <a:srgbClr val="14B8A6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4570809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4079" y="4549378"/>
            <a:ext cx="38147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planning keeps the team aligned from idea to release.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091360" y="4561284"/>
            <a:ext cx="2490787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upfront planning prevents rework later.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Text 2"/>
          <p:cNvSpPr/>
          <p:nvPr/>
        </p:nvSpPr>
        <p:spPr>
          <a:xfrm>
            <a:off x="400050" y="342900"/>
            <a:ext cx="56197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522808"/>
            <a:ext cx="523875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continuous loop from plan to monitor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00050" y="1212303"/>
            <a:ext cx="53340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feeds the next, then feedback returns to Plan for the next iteration.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9393" y="1803919"/>
            <a:ext cx="5362575" cy="3033712"/>
          </a:xfrm>
          <a:prstGeom prst="roundRect">
            <a:avLst>
              <a:gd name="adj" fmla="val 1420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" y="1946199"/>
            <a:ext cx="24765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Circular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2925" y="2137395"/>
            <a:ext cx="2476500" cy="4238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loop stays visible at every stage, showing how delivery and operations reinforce one another.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00249" y="1945728"/>
            <a:ext cx="1519238" cy="257175"/>
          </a:xfrm>
          <a:prstGeom prst="roundRect">
            <a:avLst>
              <a:gd name="adj" fmla="val 44444"/>
            </a:avLst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</a:t>
            </a:r>
            <a:endParaRPr lang="en-US" sz="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128043" y="1890340"/>
          <a:ext cx="3905250" cy="29051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2590" y="4086225"/>
            <a:ext cx="2495550" cy="628650"/>
          </a:xfrm>
          <a:prstGeom prst="roundRect">
            <a:avLst>
              <a:gd name="adj" fmla="val 22039"/>
            </a:avLst>
          </a:prstGeom>
          <a:solidFill>
            <a:srgbClr val="10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628315" y="4171950"/>
            <a:ext cx="2324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28315" y="4352925"/>
            <a:ext cx="2324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→ Code → Build → Test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23208" y="4086225"/>
            <a:ext cx="2495550" cy="628650"/>
          </a:xfrm>
          <a:prstGeom prst="roundRect">
            <a:avLst>
              <a:gd name="adj" fmla="val 22039"/>
            </a:avLst>
          </a:prstGeom>
          <a:solidFill>
            <a:srgbClr val="10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3208933" y="4171950"/>
            <a:ext cx="2324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208933" y="4352925"/>
            <a:ext cx="2324100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→ Deploy → Operate → Monitor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71516" y="1803535"/>
            <a:ext cx="2771775" cy="1200150"/>
          </a:xfrm>
          <a:prstGeom prst="roundRect">
            <a:avLst>
              <a:gd name="adj" fmla="val 8466"/>
            </a:avLst>
          </a:prstGeom>
          <a:solidFill>
            <a:srgbClr val="0B1F33"/>
          </a:solidFill>
          <a:ln/>
        </p:spPr>
      </p:sp>
      <p:sp>
        <p:nvSpPr>
          <p:cNvPr id="19" name="Text 16"/>
          <p:cNvSpPr/>
          <p:nvPr/>
        </p:nvSpPr>
        <p:spPr>
          <a:xfrm>
            <a:off x="6104866" y="1936203"/>
            <a:ext cx="250507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 LOGIC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04866" y="2107888"/>
            <a:ext cx="25050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Bef>
                <a:spcPts val="525"/>
              </a:spcBef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closes the cycle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04866" y="2351459"/>
            <a:ext cx="2505075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informs the next plan, so improvements compound instead of resetting.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71516" y="3119052"/>
            <a:ext cx="2771775" cy="1719263"/>
          </a:xfrm>
          <a:prstGeom prst="roundRect">
            <a:avLst>
              <a:gd name="adj" fmla="val 4125"/>
            </a:avLst>
          </a:prstGeom>
          <a:solidFill>
            <a:srgbClr val="102A43"/>
          </a:solidFill>
          <a:ln/>
        </p:spPr>
      </p:sp>
      <p:sp>
        <p:nvSpPr>
          <p:cNvPr id="23" name="Text 20"/>
          <p:cNvSpPr/>
          <p:nvPr/>
        </p:nvSpPr>
        <p:spPr>
          <a:xfrm>
            <a:off x="6104866" y="3411982"/>
            <a:ext cx="250507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DIAGRAM SAYS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209" y="3612007"/>
            <a:ext cx="114300" cy="114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285841" y="3601986"/>
            <a:ext cx="23241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Stages move clockwise through delivery.</a:t>
            </a:r>
            <a:endParaRPr lang="en-US" sz="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209" y="4006304"/>
            <a:ext cx="114300" cy="114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85035" y="3997722"/>
            <a:ext cx="231933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last step feeds directly back to Plan.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209" y="4246313"/>
            <a:ext cx="114300" cy="1143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85841" y="4236292"/>
            <a:ext cx="23241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pass should improve the next release.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62893"/>
            <a:ext cx="6286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 PHASE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63189"/>
            <a:ext cx="571500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work before it becomes delivery pressure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19100" y="1328686"/>
            <a:ext cx="6000750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3"/>
              </a:lnSpc>
              <a:spcBef>
                <a:spcPts val="825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 stakeholders, organize the backlog, and keep releases moving with clear collaboration and fast feedback.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9212" y="2061839"/>
            <a:ext cx="2533650" cy="2738438"/>
          </a:xfrm>
          <a:prstGeom prst="roundRect">
            <a:avLst>
              <a:gd name="adj" fmla="val 2035"/>
            </a:avLst>
          </a:prstGeom>
          <a:solidFill>
            <a:srgbClr val="0B1F33"/>
          </a:solidFill>
          <a:ln/>
        </p:spPr>
      </p:sp>
      <p:sp>
        <p:nvSpPr>
          <p:cNvPr id="9" name="Shape 7"/>
          <p:cNvSpPr/>
          <p:nvPr/>
        </p:nvSpPr>
        <p:spPr>
          <a:xfrm>
            <a:off x="581025" y="2242491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102A4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309166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23702" y="2287736"/>
            <a:ext cx="120491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1025" y="2613471"/>
            <a:ext cx="2047875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Gather stakeholder needs early so scope, priorities, and approvals are visible before sprint work starts.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1025" y="3988097"/>
            <a:ext cx="47625" cy="4762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695437" y="3935238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business goals and constraints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1025" y="4382442"/>
            <a:ext cx="47625" cy="4762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95437" y="4329583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ownership before planning begins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52763" y="2061839"/>
            <a:ext cx="2838450" cy="2738438"/>
          </a:xfrm>
          <a:prstGeom prst="roundRect">
            <a:avLst>
              <a:gd name="adj" fmla="val 1974"/>
            </a:avLst>
          </a:prstGeom>
          <a:solidFill>
            <a:srgbClr val="102A43"/>
          </a:solidFill>
          <a:ln w="4763">
            <a:solidFill>
              <a:srgbClr val="14B8A6">
                <a:alpha val="333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38736" y="2307257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12324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411" y="2373932"/>
            <a:ext cx="142875" cy="1428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90206" y="2257250"/>
            <a:ext cx="102870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 Control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718669" y="2331070"/>
            <a:ext cx="108585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PLANNING HUB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338500" y="2737743"/>
            <a:ext cx="2466975" cy="747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tasks with boards and backlogs so the team can see what matters now, what waits, and what moves next.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38736" y="3973810"/>
            <a:ext cx="47625" cy="4762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0"/>
          <p:cNvSpPr/>
          <p:nvPr/>
        </p:nvSpPr>
        <p:spPr>
          <a:xfrm>
            <a:off x="3452800" y="3920951"/>
            <a:ext cx="23526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priorities ordered in one visible board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338736" y="4368154"/>
            <a:ext cx="47625" cy="4762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452800" y="4315296"/>
            <a:ext cx="23526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Surface blockers before they slow delivery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91123" y="2061839"/>
            <a:ext cx="2533650" cy="2738438"/>
          </a:xfrm>
          <a:prstGeom prst="roundRect">
            <a:avLst>
              <a:gd name="adj" fmla="val 2035"/>
            </a:avLst>
          </a:prstGeom>
          <a:solidFill>
            <a:srgbClr val="0B1F33"/>
          </a:solidFill>
          <a:ln/>
        </p:spPr>
      </p:sp>
      <p:sp>
        <p:nvSpPr>
          <p:cNvPr id="28" name="Shape 24"/>
          <p:cNvSpPr/>
          <p:nvPr/>
        </p:nvSpPr>
        <p:spPr>
          <a:xfrm>
            <a:off x="6352924" y="2242491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102A4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599" y="2309166"/>
            <a:ext cx="133350" cy="1333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96766" y="2287736"/>
            <a:ext cx="13811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Rhythm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352924" y="2613471"/>
            <a:ext cx="2047875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 sprints, releases, and feedback cycles so planning stays connected to delivery and learning.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352924" y="4296717"/>
            <a:ext cx="47625" cy="4762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28"/>
          <p:cNvSpPr/>
          <p:nvPr/>
        </p:nvSpPr>
        <p:spPr>
          <a:xfrm>
            <a:off x="6466145" y="4245284"/>
            <a:ext cx="205263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sprint goals with release dates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352924" y="4536752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0"/>
          <p:cNvSpPr/>
          <p:nvPr/>
        </p:nvSpPr>
        <p:spPr>
          <a:xfrm>
            <a:off x="6466343" y="4485320"/>
            <a:ext cx="20669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loop with feedback cycles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343843"/>
            <a:ext cx="5619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 TOOLS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544140"/>
            <a:ext cx="561975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 tools, each with a clear planning job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81000" y="1291183"/>
            <a:ext cx="51435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right board for the right kind of work — agile tracking, work items, simple task boards, or code-linked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76256" y="1395958"/>
            <a:ext cx="885825" cy="276225"/>
          </a:xfrm>
          <a:prstGeom prst="roundRect">
            <a:avLst>
              <a:gd name="adj" fmla="val 41379"/>
            </a:avLst>
          </a:prstGeom>
          <a:solidFill>
            <a:srgbClr val="0B1F3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113" y="1481683"/>
            <a:ext cx="104775" cy="1047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42956" y="1481683"/>
            <a:ext cx="51435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TOOLS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1000" y="1978037"/>
            <a:ext cx="4095750" cy="1333500"/>
          </a:xfrm>
          <a:prstGeom prst="roundRect">
            <a:avLst>
              <a:gd name="adj" fmla="val 7347"/>
            </a:avLst>
          </a:prstGeom>
          <a:solidFill>
            <a:srgbClr val="0B1F33"/>
          </a:solidFill>
          <a:ln/>
        </p:spPr>
      </p:sp>
      <p:sp>
        <p:nvSpPr>
          <p:cNvPr id="12" name="Shape 9"/>
          <p:cNvSpPr/>
          <p:nvPr/>
        </p:nvSpPr>
        <p:spPr>
          <a:xfrm>
            <a:off x="552450" y="2169616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1232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2250579"/>
            <a:ext cx="142875" cy="142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2938" y="2147713"/>
            <a:ext cx="291941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42938" y="2347491"/>
            <a:ext cx="291941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for agile project tracking and sprint planning.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52450" y="2726580"/>
            <a:ext cx="2000250" cy="4238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issue tracking for teams that need status, ownership, and backlog visibility.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896007" y="2809924"/>
            <a:ext cx="409575" cy="257175"/>
          </a:xfrm>
          <a:prstGeom prst="roundRect">
            <a:avLst>
              <a:gd name="adj" fmla="val 44444"/>
            </a:avLst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667250" y="1978037"/>
            <a:ext cx="4095750" cy="1333500"/>
          </a:xfrm>
          <a:prstGeom prst="roundRect">
            <a:avLst>
              <a:gd name="adj" fmla="val 7347"/>
            </a:avLst>
          </a:prstGeom>
          <a:solidFill>
            <a:srgbClr val="0B1F33"/>
          </a:solidFill>
          <a:ln/>
        </p:spPr>
      </p:sp>
      <p:sp>
        <p:nvSpPr>
          <p:cNvPr id="19" name="Shape 15"/>
          <p:cNvSpPr/>
          <p:nvPr/>
        </p:nvSpPr>
        <p:spPr>
          <a:xfrm>
            <a:off x="4838700" y="2169616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1232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663" y="2250579"/>
            <a:ext cx="142875" cy="1428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28295" y="2147713"/>
            <a:ext cx="32956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Azure Boards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28295" y="2347491"/>
            <a:ext cx="329565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item management inside the Microsoft ecosystem.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838700" y="2868736"/>
            <a:ext cx="2000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Pairs naturally with repos, pipelines, and team workflows already in Azure.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7862478" y="2880643"/>
            <a:ext cx="728663" cy="257175"/>
          </a:xfrm>
          <a:prstGeom prst="roundRect">
            <a:avLst>
              <a:gd name="adj" fmla="val 44444"/>
            </a:avLst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items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381000" y="3504145"/>
            <a:ext cx="4095750" cy="1333500"/>
          </a:xfrm>
          <a:prstGeom prst="roundRect">
            <a:avLst>
              <a:gd name="adj" fmla="val 7347"/>
            </a:avLst>
          </a:prstGeom>
          <a:solidFill>
            <a:srgbClr val="0B1F33"/>
          </a:solidFill>
          <a:ln/>
        </p:spPr>
      </p:sp>
      <p:sp>
        <p:nvSpPr>
          <p:cNvPr id="26" name="Shape 21"/>
          <p:cNvSpPr/>
          <p:nvPr/>
        </p:nvSpPr>
        <p:spPr>
          <a:xfrm>
            <a:off x="552450" y="3695724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12324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" y="3776687"/>
            <a:ext cx="142875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2529" y="3673821"/>
            <a:ext cx="29765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Trello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42529" y="3873599"/>
            <a:ext cx="297656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visual task boards for fast classroom demos.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52450" y="4252689"/>
            <a:ext cx="2000250" cy="4238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to scan when you want a lightweight board without process overhead.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3849153" y="4336033"/>
            <a:ext cx="457200" cy="257175"/>
          </a:xfrm>
          <a:prstGeom prst="roundRect">
            <a:avLst>
              <a:gd name="adj" fmla="val 44444"/>
            </a:avLst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4667250" y="3504145"/>
            <a:ext cx="4095750" cy="1333500"/>
          </a:xfrm>
          <a:prstGeom prst="roundRect">
            <a:avLst>
              <a:gd name="adj" fmla="val 7347"/>
            </a:avLst>
          </a:prstGeom>
          <a:solidFill>
            <a:srgbClr val="0B1F33"/>
          </a:solidFill>
          <a:ln/>
        </p:spPr>
      </p:sp>
      <p:sp>
        <p:nvSpPr>
          <p:cNvPr id="33" name="Shape 27"/>
          <p:cNvSpPr/>
          <p:nvPr/>
        </p:nvSpPr>
        <p:spPr>
          <a:xfrm>
            <a:off x="4838700" y="3695724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12324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663" y="3776687"/>
            <a:ext cx="142875" cy="14287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29671" y="3673821"/>
            <a:ext cx="323373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Projects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229671" y="3873599"/>
            <a:ext cx="3233737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Code-linked planning for teams shipping from the repo.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838700" y="4252689"/>
            <a:ext cx="2000250" cy="4238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when planning needs to stay close to issues, branches, and pull requests.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7835392" y="4336033"/>
            <a:ext cx="757238" cy="257175"/>
          </a:xfrm>
          <a:prstGeom prst="roundRect">
            <a:avLst>
              <a:gd name="adj" fmla="val 44444"/>
            </a:avLst>
          </a:prstGeom>
          <a:solidFill>
            <a:srgbClr val="102A4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A85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Code-linked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38150"/>
            <a:ext cx="8001000" cy="4267200"/>
          </a:xfrm>
          <a:prstGeom prst="roundRect">
            <a:avLst>
              <a:gd name="adj" fmla="val 861"/>
            </a:avLst>
          </a:prstGeom>
          <a:solidFill>
            <a:srgbClr val="0B1F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400050"/>
            <a:ext cx="114300" cy="114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850" y="387350"/>
            <a:ext cx="206764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tools, explained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23875" y="610307"/>
            <a:ext cx="57150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 of Each Planning Tool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23875" y="1006301"/>
            <a:ext cx="495300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common tools, each strong in a different planning style — from agile execution to code-connected coordination.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875" y="1696653"/>
            <a:ext cx="3948112" cy="2328863"/>
          </a:xfrm>
          <a:prstGeom prst="roundRect">
            <a:avLst>
              <a:gd name="adj" fmla="val 2409"/>
            </a:avLst>
          </a:prstGeom>
          <a:solidFill>
            <a:srgbClr val="102A43"/>
          </a:solidFill>
          <a:ln/>
          <a:effectLst>
            <a:outerShdw sx="100000" sy="100000" kx="0" ky="0" algn="bl" rotWithShape="0" blurRad="101600" dist="50800" dir="16200000">
              <a:srgbClr val="14B8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4375" y="1926406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993081"/>
            <a:ext cx="123825" cy="1238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7382" y="1876884"/>
            <a:ext cx="15811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 execution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37382" y="2094520"/>
            <a:ext cx="1581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for structured delivery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14375" y="2723281"/>
            <a:ext cx="3567113" cy="528638"/>
          </a:xfrm>
          <a:prstGeom prst="roundRect">
            <a:avLst>
              <a:gd name="adj" fmla="val 34283"/>
            </a:avLst>
          </a:prstGeom>
          <a:solidFill>
            <a:srgbClr val="07111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829024"/>
            <a:ext cx="104775" cy="1047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9629" y="2819970"/>
            <a:ext cx="22526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99629" y="3002359"/>
            <a:ext cx="22526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agile boards and issue tracking.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14375" y="3335709"/>
            <a:ext cx="3567113" cy="528638"/>
          </a:xfrm>
          <a:prstGeom prst="roundRect">
            <a:avLst>
              <a:gd name="adj" fmla="val 34283"/>
            </a:avLst>
          </a:prstGeom>
          <a:solidFill>
            <a:srgbClr val="07111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441452"/>
            <a:ext cx="104775" cy="1047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0261" y="3432398"/>
            <a:ext cx="28717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Azure Boards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00261" y="3614787"/>
            <a:ext cx="28717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items, sprints, and dashboards in one place.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72013" y="1696653"/>
            <a:ext cx="3948112" cy="2328863"/>
          </a:xfrm>
          <a:prstGeom prst="roundRect">
            <a:avLst>
              <a:gd name="adj" fmla="val 2409"/>
            </a:avLst>
          </a:prstGeom>
          <a:solidFill>
            <a:srgbClr val="12324A"/>
          </a:solidFill>
          <a:ln/>
        </p:spPr>
      </p:sp>
      <p:sp>
        <p:nvSpPr>
          <p:cNvPr id="24" name="Shape 18"/>
          <p:cNvSpPr/>
          <p:nvPr/>
        </p:nvSpPr>
        <p:spPr>
          <a:xfrm>
            <a:off x="4862513" y="1926406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14B8A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993081"/>
            <a:ext cx="123825" cy="1238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85916" y="1876884"/>
            <a:ext cx="22955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coordination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185916" y="2094520"/>
            <a:ext cx="22955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for fast-moving teams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862513" y="2723281"/>
            <a:ext cx="3567113" cy="528638"/>
          </a:xfrm>
          <a:prstGeom prst="roundRect">
            <a:avLst>
              <a:gd name="adj" fmla="val 34283"/>
            </a:avLst>
          </a:prstGeom>
          <a:solidFill>
            <a:srgbClr val="0B1F3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287" y="2829024"/>
            <a:ext cx="104775" cy="1047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47481" y="2819970"/>
            <a:ext cx="24193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Trello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147481" y="3002359"/>
            <a:ext cx="24193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drag-and-drop task management.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862513" y="3335709"/>
            <a:ext cx="3567113" cy="528638"/>
          </a:xfrm>
          <a:prstGeom prst="roundRect">
            <a:avLst>
              <a:gd name="adj" fmla="val 34283"/>
            </a:avLst>
          </a:prstGeom>
          <a:solidFill>
            <a:srgbClr val="0B1F33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7287" y="3441452"/>
            <a:ext cx="104775" cy="1047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48746" y="3432398"/>
            <a:ext cx="21336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Projects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5148746" y="3614787"/>
            <a:ext cx="21336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connected directly to code.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23875" y="4224833"/>
            <a:ext cx="8096250" cy="576262"/>
          </a:xfrm>
          <a:prstGeom prst="roundRect">
            <a:avLst>
              <a:gd name="adj" fmla="val 36719"/>
            </a:avLst>
          </a:prstGeom>
          <a:solidFill>
            <a:srgbClr val="07111F"/>
          </a:solidFill>
          <a:ln/>
          <a:effectLst>
            <a:outerShdw sx="100000" sy="100000" kx="0" ky="0" algn="bl" rotWithShape="0" blurRad="101600" dist="50800" dir="16200000">
              <a:srgbClr val="14B8A6">
                <a:alpha val="1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85800" y="4403427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4B8A6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4460577"/>
            <a:ext cx="104775" cy="10477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79996" y="4358183"/>
            <a:ext cx="5700713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Verdict: Jira and Azure Boards fit disciplined planning; Trello stays easiest; GitHub Projects is strongest when planning should live beside the code.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6814058" y="4434383"/>
            <a:ext cx="14906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BY WORKFLOW</a:t>
            </a:r>
            <a:endParaRPr lang="en-US" sz="8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425" y="4460577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372417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32457" y="343843"/>
            <a:ext cx="15811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PIPELINE 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0050" y="553665"/>
            <a:ext cx="552450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across every stage of delivery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00050" y="1300708"/>
            <a:ext cx="5238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planning to monitoring, each layer uses a focused toolset that keeps the workflow moving.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0050" y="1987562"/>
            <a:ext cx="4076700" cy="1190625"/>
          </a:xfrm>
          <a:prstGeom prst="roundRect">
            <a:avLst>
              <a:gd name="adj" fmla="val 8602"/>
            </a:avLst>
          </a:prstGeom>
          <a:solidFill>
            <a:srgbClr val="102A43"/>
          </a:solidFill>
          <a:ln/>
        </p:spPr>
      </p:sp>
      <p:sp>
        <p:nvSpPr>
          <p:cNvPr id="10" name="Shape 8"/>
          <p:cNvSpPr/>
          <p:nvPr/>
        </p:nvSpPr>
        <p:spPr>
          <a:xfrm>
            <a:off x="561975" y="2196505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0B1F3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8" y="2258417"/>
            <a:ext cx="123825" cy="1238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5717" y="2149376"/>
            <a:ext cx="76676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5717" y="2354622"/>
            <a:ext cx="7667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Jira, Trello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72644" y="2201267"/>
            <a:ext cx="542925" cy="238125"/>
          </a:xfrm>
          <a:prstGeom prst="roundRect">
            <a:avLst>
              <a:gd name="adj" fmla="val 48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61975" y="2597956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Shape priorities, assign work, and keep delivery visible before code begins.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7250" y="1987562"/>
            <a:ext cx="4076700" cy="1190625"/>
          </a:xfrm>
          <a:prstGeom prst="roundRect">
            <a:avLst>
              <a:gd name="adj" fmla="val 8602"/>
            </a:avLst>
          </a:prstGeom>
          <a:solidFill>
            <a:srgbClr val="12324A"/>
          </a:solidFill>
          <a:ln w="4763">
            <a:solidFill>
              <a:srgbClr val="14B8A6">
                <a:alpha val="133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33938" y="2201267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0B1F3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263180"/>
            <a:ext cx="123825" cy="1238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48213" y="2154138"/>
            <a:ext cx="11525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148213" y="2359384"/>
            <a:ext cx="11525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Git, GitHub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100168" y="2206030"/>
            <a:ext cx="476250" cy="238125"/>
          </a:xfrm>
          <a:prstGeom prst="roundRect">
            <a:avLst>
              <a:gd name="adj" fmla="val 48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833938" y="2602718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control, collaboration, and code review stay anchored in one shared source of truth.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00050" y="3370796"/>
            <a:ext cx="4076700" cy="1190625"/>
          </a:xfrm>
          <a:prstGeom prst="roundRect">
            <a:avLst>
              <a:gd name="adj" fmla="val 8602"/>
            </a:avLst>
          </a:prstGeom>
          <a:solidFill>
            <a:srgbClr val="102A43"/>
          </a:solidFill>
          <a:ln/>
        </p:spPr>
      </p:sp>
      <p:sp>
        <p:nvSpPr>
          <p:cNvPr id="24" name="Shape 20"/>
          <p:cNvSpPr/>
          <p:nvPr/>
        </p:nvSpPr>
        <p:spPr>
          <a:xfrm>
            <a:off x="561975" y="3579738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0B1F3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8" y="3641650"/>
            <a:ext cx="123825" cy="1238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6945" y="3532609"/>
            <a:ext cx="13811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76945" y="3737856"/>
            <a:ext cx="1381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Jenkins, GitHub Actions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682290" y="3584500"/>
            <a:ext cx="633412" cy="238125"/>
          </a:xfrm>
          <a:prstGeom prst="roundRect">
            <a:avLst>
              <a:gd name="adj" fmla="val 48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561975" y="3981190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Build, test, and deploy on every change so release flow stays fast and repeatable.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667250" y="3370796"/>
            <a:ext cx="4076700" cy="1190625"/>
          </a:xfrm>
          <a:prstGeom prst="roundRect">
            <a:avLst>
              <a:gd name="adj" fmla="val 8602"/>
            </a:avLst>
          </a:prstGeom>
          <a:solidFill>
            <a:srgbClr val="12324A"/>
          </a:solidFill>
          <a:ln w="4763">
            <a:solidFill>
              <a:srgbClr val="14B8A6">
                <a:alpha val="133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833938" y="3584500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0B1F3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3646413"/>
            <a:ext cx="123825" cy="12382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47866" y="3537371"/>
            <a:ext cx="12287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147866" y="3742618"/>
            <a:ext cx="12287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Prometheus, Grafana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8029277" y="3589263"/>
            <a:ext cx="547687" cy="238125"/>
          </a:xfrm>
          <a:prstGeom prst="roundRect">
            <a:avLst>
              <a:gd name="adj" fmla="val 48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4833938" y="3985952"/>
            <a:ext cx="2476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health, surface anomalies, and keep the live system visible after deployment.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99480" y="4698194"/>
            <a:ext cx="32527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pipeline, four tool layers — each stage supports the next.</a:t>
            </a:r>
            <a:endParaRPr lang="en-US" sz="8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227" y="4719638"/>
            <a:ext cx="95250" cy="952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010102" y="4708525"/>
            <a:ext cx="1733848" cy="11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→ Build → Release → Observe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42900"/>
            <a:ext cx="58102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 BENEFITS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23205"/>
            <a:ext cx="561975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plan. Faster delivery. Better control.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00050" y="1252141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aligns teams, removes friction, and catches issues before they slow the release.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0050" y="1929085"/>
            <a:ext cx="3619500" cy="2909888"/>
          </a:xfrm>
          <a:prstGeom prst="roundRect">
            <a:avLst>
              <a:gd name="adj" fmla="val 1440"/>
            </a:avLst>
          </a:prstGeom>
          <a:solidFill>
            <a:srgbClr val="0B1F33"/>
          </a:solidFill>
          <a:ln/>
        </p:spPr>
      </p:sp>
      <p:sp>
        <p:nvSpPr>
          <p:cNvPr id="9" name="Shape 7"/>
          <p:cNvSpPr/>
          <p:nvPr/>
        </p:nvSpPr>
        <p:spPr>
          <a:xfrm>
            <a:off x="590550" y="2277467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232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8" y="2329855"/>
            <a:ext cx="114300" cy="1143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6300" y="2130326"/>
            <a:ext cx="29527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becomes the default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6300" y="2335560"/>
            <a:ext cx="29527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planning keeps product, engineering, and operations moving as one team.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0550" y="2916535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232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968923"/>
            <a:ext cx="114300" cy="114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6300" y="2769394"/>
            <a:ext cx="29527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gets faster and steadier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76300" y="2974628"/>
            <a:ext cx="29527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priorities and repeatable steps reduce rework and release risk.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90550" y="3555603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23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3607991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300" y="3408462"/>
            <a:ext cx="29527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surface earlier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76300" y="3613696"/>
            <a:ext cx="29527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creates visibility, so teams spot blockers before they spread.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479603"/>
            <a:ext cx="95895" cy="1047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269" y="4405784"/>
            <a:ext cx="3086100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productivity and transparency across the release flow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150" y="1929085"/>
            <a:ext cx="4495800" cy="225266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80793" y="3838575"/>
            <a:ext cx="1247775" cy="209550"/>
          </a:xfrm>
          <a:prstGeom prst="roundRect">
            <a:avLst>
              <a:gd name="adj" fmla="val 54545"/>
            </a:avLst>
          </a:prstGeom>
          <a:solidFill>
            <a:srgbClr val="07111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3900488"/>
            <a:ext cx="85725" cy="857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91050" y="3884613"/>
            <a:ext cx="960611" cy="115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50"/>
              </a:lnSpc>
              <a:buNone/>
            </a:pPr>
            <a:r>
              <a:rPr lang="en-US" sz="700" b="1" dirty="0">
                <a:solidFill>
                  <a:srgbClr val="F8FAFC"/>
                </a:solidFill>
                <a:highlight>
                  <a:srgbClr val="07111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pipeline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7319665" y="3838575"/>
            <a:ext cx="1290638" cy="209550"/>
          </a:xfrm>
          <a:prstGeom prst="roundRect">
            <a:avLst>
              <a:gd name="adj" fmla="val 54545"/>
            </a:avLst>
          </a:prstGeom>
          <a:solidFill>
            <a:srgbClr val="07111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→ Build → Release</a:t>
            </a:r>
            <a:endParaRPr lang="en-US" sz="700" dirty="0"/>
          </a:p>
        </p:txBody>
      </p:sp>
      <p:sp>
        <p:nvSpPr>
          <p:cNvPr id="28" name="Shape 20"/>
          <p:cNvSpPr/>
          <p:nvPr/>
        </p:nvSpPr>
        <p:spPr>
          <a:xfrm>
            <a:off x="4248150" y="4286250"/>
            <a:ext cx="2205037" cy="552450"/>
          </a:xfrm>
          <a:prstGeom prst="roundRect">
            <a:avLst>
              <a:gd name="adj" fmla="val 34245"/>
            </a:avLst>
          </a:prstGeom>
          <a:solidFill>
            <a:srgbClr val="0B1F33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925" y="4426744"/>
            <a:ext cx="104775" cy="1047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15582" y="4417219"/>
            <a:ext cx="8667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 aligned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4352925" y="4589611"/>
            <a:ext cx="1995487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75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priorities and fewer handoff gaps.</a:t>
            </a:r>
            <a:endParaRPr lang="en-US" sz="700" dirty="0"/>
          </a:p>
        </p:txBody>
      </p:sp>
      <p:sp>
        <p:nvSpPr>
          <p:cNvPr id="32" name="Shape 23"/>
          <p:cNvSpPr/>
          <p:nvPr/>
        </p:nvSpPr>
        <p:spPr>
          <a:xfrm>
            <a:off x="6538912" y="4286250"/>
            <a:ext cx="2205037" cy="552450"/>
          </a:xfrm>
          <a:prstGeom prst="roundRect">
            <a:avLst>
              <a:gd name="adj" fmla="val 34245"/>
            </a:avLst>
          </a:prstGeom>
          <a:solidFill>
            <a:srgbClr val="0B1F3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687" y="4426744"/>
            <a:ext cx="104775" cy="1047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04844" y="4417219"/>
            <a:ext cx="7048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visible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6643687" y="4589611"/>
            <a:ext cx="1995487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75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and blockers are easy to track.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333375"/>
            <a:ext cx="114300" cy="114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875" y="320675"/>
            <a:ext cx="1317399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planning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42900" y="543682"/>
            <a:ext cx="523875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4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in DevOps Planning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42900" y="931143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biggest barriers are people, process, security, and skills — all of them appear before the first release.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3557" y="1609043"/>
            <a:ext cx="4452937" cy="3267075"/>
          </a:xfrm>
          <a:prstGeom prst="roundRect">
            <a:avLst>
              <a:gd name="adj" fmla="val 1142"/>
            </a:avLst>
          </a:prstGeom>
          <a:solidFill>
            <a:srgbClr val="0B1F33"/>
          </a:solidFill>
          <a:ln/>
        </p:spPr>
      </p:sp>
      <p:sp>
        <p:nvSpPr>
          <p:cNvPr id="10" name="Shape 7"/>
          <p:cNvSpPr/>
          <p:nvPr/>
        </p:nvSpPr>
        <p:spPr>
          <a:xfrm>
            <a:off x="542925" y="1865511"/>
            <a:ext cx="209550" cy="209550"/>
          </a:xfrm>
          <a:prstGeom prst="roundRect">
            <a:avLst>
              <a:gd name="adj" fmla="val 34711"/>
            </a:avLst>
          </a:prstGeom>
          <a:solidFill>
            <a:srgbClr val="1232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913136"/>
            <a:ext cx="114300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617" y="1799804"/>
            <a:ext cx="242411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planning slows down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18617" y="2004578"/>
            <a:ext cx="24241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risks that compound each other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43582" y="2274367"/>
            <a:ext cx="4052887" cy="752475"/>
          </a:xfrm>
          <a:prstGeom prst="rect">
            <a:avLst/>
          </a:prstGeom>
          <a:ln/>
        </p:spPr>
      </p:sp>
      <p:sp>
        <p:nvSpPr>
          <p:cNvPr id="15" name="Shape 11"/>
          <p:cNvSpPr/>
          <p:nvPr/>
        </p:nvSpPr>
        <p:spPr>
          <a:xfrm>
            <a:off x="542925" y="2384624"/>
            <a:ext cx="161925" cy="161925"/>
          </a:xfrm>
          <a:prstGeom prst="roundRect">
            <a:avLst>
              <a:gd name="adj" fmla="val 49827"/>
            </a:avLst>
          </a:prstGeom>
          <a:solidFill>
            <a:srgbClr val="102A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2724"/>
            <a:ext cx="85725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1232" y="2383433"/>
            <a:ext cx="38052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Cultural resistance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91232" y="2587501"/>
            <a:ext cx="3805237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 hesitate when delivery habits and ownership boundaries shift.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3582" y="3130178"/>
            <a:ext cx="4052887" cy="752475"/>
          </a:xfrm>
          <a:prstGeom prst="rect">
            <a:avLst/>
          </a:prstGeom>
          <a:ln/>
        </p:spPr>
      </p:sp>
      <p:sp>
        <p:nvSpPr>
          <p:cNvPr id="20" name="Shape 15"/>
          <p:cNvSpPr/>
          <p:nvPr/>
        </p:nvSpPr>
        <p:spPr>
          <a:xfrm>
            <a:off x="542925" y="3240435"/>
            <a:ext cx="161925" cy="161925"/>
          </a:xfrm>
          <a:prstGeom prst="roundRect">
            <a:avLst>
              <a:gd name="adj" fmla="val 49827"/>
            </a:avLst>
          </a:prstGeom>
          <a:solidFill>
            <a:srgbClr val="102A4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78535"/>
            <a:ext cx="85725" cy="857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1232" y="3239244"/>
            <a:ext cx="38052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complexity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91232" y="3443312"/>
            <a:ext cx="3805237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gaps create handoffs, rework, and fragile workflows.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3582" y="3985990"/>
            <a:ext cx="4052887" cy="752475"/>
          </a:xfrm>
          <a:prstGeom prst="rect">
            <a:avLst/>
          </a:prstGeom>
          <a:ln/>
        </p:spPr>
      </p:sp>
      <p:sp>
        <p:nvSpPr>
          <p:cNvPr id="25" name="Shape 19"/>
          <p:cNvSpPr/>
          <p:nvPr/>
        </p:nvSpPr>
        <p:spPr>
          <a:xfrm>
            <a:off x="542925" y="4096246"/>
            <a:ext cx="161925" cy="161925"/>
          </a:xfrm>
          <a:prstGeom prst="roundRect">
            <a:avLst>
              <a:gd name="adj" fmla="val 49827"/>
            </a:avLst>
          </a:prstGeom>
          <a:solidFill>
            <a:srgbClr val="102A4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34346"/>
            <a:ext cx="85725" cy="857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232" y="4095056"/>
            <a:ext cx="38052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across workflows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91232" y="4299124"/>
            <a:ext cx="3805237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Controls must travel with code, builds, deployments, and approvals.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43582" y="4841565"/>
            <a:ext cx="4052887" cy="481012"/>
          </a:xfrm>
          <a:prstGeom prst="rect">
            <a:avLst/>
          </a:prstGeom>
          <a:ln/>
        </p:spPr>
      </p:sp>
      <p:sp>
        <p:nvSpPr>
          <p:cNvPr id="30" name="Shape 23"/>
          <p:cNvSpPr/>
          <p:nvPr/>
        </p:nvSpPr>
        <p:spPr>
          <a:xfrm>
            <a:off x="542925" y="4952058"/>
            <a:ext cx="161925" cy="161925"/>
          </a:xfrm>
          <a:prstGeom prst="roundRect">
            <a:avLst>
              <a:gd name="adj" fmla="val 49827"/>
            </a:avLst>
          </a:prstGeom>
          <a:solidFill>
            <a:srgbClr val="102A4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990158"/>
            <a:ext cx="85725" cy="857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0761" y="4950867"/>
            <a:ext cx="3576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shortages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90761" y="5154700"/>
            <a:ext cx="3576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stalls when expertise is uneven across teams.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006042" y="1609043"/>
            <a:ext cx="3795712" cy="3267075"/>
          </a:xfrm>
          <a:prstGeom prst="roundRect">
            <a:avLst>
              <a:gd name="adj" fmla="val 1142"/>
            </a:avLst>
          </a:prstGeom>
          <a:solidFill>
            <a:srgbClr val="0B1F33"/>
          </a:solidFill>
          <a:ln/>
        </p:spPr>
      </p:sp>
      <p:sp>
        <p:nvSpPr>
          <p:cNvPr id="35" name="Text 27"/>
          <p:cNvSpPr/>
          <p:nvPr/>
        </p:nvSpPr>
        <p:spPr>
          <a:xfrm>
            <a:off x="5168103" y="1771229"/>
            <a:ext cx="271938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Control-center view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168103" y="1976003"/>
            <a:ext cx="27193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pipeline is only as strong as its weakest transition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8391525" y="1817886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12324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8" y="1879799"/>
            <a:ext cx="123825" cy="12382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167967" y="2228156"/>
            <a:ext cx="3471863" cy="1743075"/>
          </a:xfrm>
          <a:prstGeom prst="roundRect">
            <a:avLst>
              <a:gd name="adj" fmla="val 3440"/>
            </a:avLst>
          </a:prstGeom>
          <a:solidFill>
            <a:srgbClr val="102A43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692" y="2313881"/>
            <a:ext cx="3300413" cy="157162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168785" y="4067175"/>
            <a:ext cx="1090613" cy="290513"/>
          </a:xfrm>
          <a:prstGeom prst="roundRect">
            <a:avLst>
              <a:gd name="adj" fmla="val 20640"/>
            </a:avLst>
          </a:prstGeom>
          <a:solidFill>
            <a:srgbClr val="1232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adoption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6325667" y="4067175"/>
            <a:ext cx="1004887" cy="290513"/>
          </a:xfrm>
          <a:prstGeom prst="roundRect">
            <a:avLst>
              <a:gd name="adj" fmla="val 20640"/>
            </a:avLst>
          </a:prstGeom>
          <a:solidFill>
            <a:srgbClr val="1232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integration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7397834" y="4067175"/>
            <a:ext cx="1143000" cy="290513"/>
          </a:xfrm>
          <a:prstGeom prst="roundRect">
            <a:avLst>
              <a:gd name="adj" fmla="val 20640"/>
            </a:avLst>
          </a:prstGeom>
          <a:solidFill>
            <a:srgbClr val="1232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by design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5168165" y="4424362"/>
            <a:ext cx="1119188" cy="290513"/>
          </a:xfrm>
          <a:prstGeom prst="roundRect">
            <a:avLst>
              <a:gd name="adj" fmla="val 20640"/>
            </a:avLst>
          </a:prstGeom>
          <a:solidFill>
            <a:srgbClr val="12324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Skills enablement</a:t>
            </a:r>
            <a:endParaRPr lang="en-US" sz="8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582" y="2274367"/>
            <a:ext cx="4052887" cy="752475"/>
          </a:xfrm>
          <a:prstGeom prst="rect">
            <a:avLst/>
          </a:prstGeom>
        </p:spPr>
      </p:pic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3582" y="3130178"/>
            <a:ext cx="4052887" cy="752475"/>
          </a:xfrm>
          <a:prstGeom prst="rect">
            <a:avLst/>
          </a:prstGeom>
        </p:spPr>
      </p:pic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3582" y="3985990"/>
            <a:ext cx="4052887" cy="752475"/>
          </a:xfrm>
          <a:prstGeom prst="rect">
            <a:avLst/>
          </a:prstGeom>
        </p:spPr>
      </p:pic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3582" y="4841565"/>
            <a:ext cx="4052887" cy="4810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43843"/>
            <a:ext cx="58102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AND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34219"/>
            <a:ext cx="581025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Plan, ship, learn — then repeat with confidence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" y="1222747"/>
            <a:ext cx="5143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connected DevOps loop turns tools, delivery, and feedback into one continuous operating rhythm.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9100" y="1851522"/>
            <a:ext cx="4938712" cy="2986088"/>
          </a:xfrm>
          <a:prstGeom prst="roundRect">
            <a:avLst>
              <a:gd name="adj" fmla="val 1661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01600" dist="50800" dir="16200000">
              <a:srgbClr val="14B8A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2735" y="1983780"/>
            <a:ext cx="33528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DELIVERY LOOP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2735" y="2127126"/>
            <a:ext cx="335280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pipeline, one operating 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00782" y="2098551"/>
            <a:ext cx="1223962" cy="290513"/>
          </a:xfrm>
          <a:prstGeom prst="roundRect">
            <a:avLst>
              <a:gd name="adj" fmla="val 39344"/>
            </a:avLst>
          </a:prstGeom>
          <a:solidFill>
            <a:srgbClr val="102A4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6792" y="2191420"/>
            <a:ext cx="104775" cy="104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39192" y="2179513"/>
            <a:ext cx="89954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4B8A6"/>
                </a:solidFill>
                <a:highlight>
                  <a:srgbClr val="102A43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flow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52450" y="2609231"/>
            <a:ext cx="4672013" cy="2095500"/>
          </a:xfrm>
          <a:prstGeom prst="roundRect">
            <a:avLst>
              <a:gd name="adj" fmla="val 2777"/>
            </a:avLst>
          </a:prstGeom>
          <a:solidFill>
            <a:srgbClr val="102A4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694956"/>
            <a:ext cx="4500563" cy="19240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67350" y="1851522"/>
            <a:ext cx="3157538" cy="2986088"/>
          </a:xfrm>
          <a:prstGeom prst="roundRect">
            <a:avLst>
              <a:gd name="adj" fmla="val 1661"/>
            </a:avLst>
          </a:prstGeom>
          <a:solidFill>
            <a:srgbClr val="0B1F33"/>
          </a:solidFill>
          <a:ln/>
          <a:effectLst>
            <a:outerShdw sx="100000" sy="100000" kx="0" ky="0" algn="bl" rotWithShape="0" blurRad="101600" dist="50800" dir="16200000">
              <a:srgbClr val="14B8A6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729275" y="2012355"/>
            <a:ext cx="2833687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29275" y="2165698"/>
            <a:ext cx="283368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planning and tools drive DevOps success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729275" y="2700499"/>
            <a:ext cx="2833687" cy="652463"/>
          </a:xfrm>
          <a:prstGeom prst="roundRect">
            <a:avLst>
              <a:gd name="adj" fmla="val 24551"/>
            </a:avLst>
          </a:prstGeom>
          <a:solidFill>
            <a:srgbClr val="102A43"/>
          </a:solidFill>
          <a:ln/>
        </p:spPr>
      </p:sp>
      <p:sp>
        <p:nvSpPr>
          <p:cNvPr id="20" name="Shape 16"/>
          <p:cNvSpPr/>
          <p:nvPr/>
        </p:nvSpPr>
        <p:spPr>
          <a:xfrm>
            <a:off x="5824537" y="2795290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4B8A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25" y="2847677"/>
            <a:ext cx="114300" cy="114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9325" y="2794806"/>
            <a:ext cx="23383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the work in Jira or Trello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29325" y="2961953"/>
            <a:ext cx="2338388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the backlog visible and priorities explicit.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729275" y="3439121"/>
            <a:ext cx="2833687" cy="800100"/>
          </a:xfrm>
          <a:prstGeom prst="roundRect">
            <a:avLst>
              <a:gd name="adj" fmla="val 16327"/>
            </a:avLst>
          </a:prstGeom>
          <a:solidFill>
            <a:srgbClr val="102A43"/>
          </a:solidFill>
          <a:ln/>
        </p:spPr>
      </p:sp>
      <p:sp>
        <p:nvSpPr>
          <p:cNvPr id="25" name="Shape 20"/>
          <p:cNvSpPr/>
          <p:nvPr/>
        </p:nvSpPr>
        <p:spPr>
          <a:xfrm>
            <a:off x="5824537" y="3534396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4B8A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925" y="3586783"/>
            <a:ext cx="114300" cy="114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29325" y="3533429"/>
            <a:ext cx="2338388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Develop, test, and deploy as one flow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129325" y="3847729"/>
            <a:ext cx="2338388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handoffs clean so delivery stays fast.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729275" y="4324896"/>
            <a:ext cx="2833687" cy="800100"/>
          </a:xfrm>
          <a:prstGeom prst="roundRect">
            <a:avLst>
              <a:gd name="adj" fmla="val 16327"/>
            </a:avLst>
          </a:prstGeom>
          <a:solidFill>
            <a:srgbClr val="102A43"/>
          </a:solidFill>
          <a:ln/>
        </p:spPr>
      </p:sp>
      <p:sp>
        <p:nvSpPr>
          <p:cNvPr id="30" name="Shape 24"/>
          <p:cNvSpPr/>
          <p:nvPr/>
        </p:nvSpPr>
        <p:spPr>
          <a:xfrm>
            <a:off x="5824537" y="4420171"/>
            <a:ext cx="219075" cy="219075"/>
          </a:xfrm>
          <a:prstGeom prst="roundRect">
            <a:avLst>
              <a:gd name="adj" fmla="val 31758"/>
            </a:avLst>
          </a:prstGeom>
          <a:solidFill>
            <a:srgbClr val="14B8A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925" y="4472558"/>
            <a:ext cx="114300" cy="114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29325" y="4419204"/>
            <a:ext cx="2338388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performance and collect feedback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129325" y="4733504"/>
            <a:ext cx="2338388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live signals to improve the next release.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728109" y="4517728"/>
            <a:ext cx="33337" cy="47625"/>
          </a:xfrm>
          <a:prstGeom prst="roundRect">
            <a:avLst>
              <a:gd name="adj" fmla="val 342862"/>
            </a:avLst>
          </a:prstGeom>
          <a:solidFill>
            <a:srgbClr val="14B8A6"/>
          </a:solidFill>
          <a:ln/>
        </p:spPr>
      </p:sp>
      <p:sp>
        <p:nvSpPr>
          <p:cNvPr id="35" name="Text 28"/>
          <p:cNvSpPr/>
          <p:nvPr/>
        </p:nvSpPr>
        <p:spPr>
          <a:xfrm>
            <a:off x="5818583" y="4386759"/>
            <a:ext cx="27432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D9E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disciplined loop is the real advantage — not just the tools themselves.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2026-08-25T03:57:26Z</dcterms:created>
  <dcterms:modified xsi:type="dcterms:W3CDTF">2026-08-25T03:57:26Z</dcterms:modified>
</cp:coreProperties>
</file>