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17320"/>
          </a:xfrm>
          <a:prstGeom prst="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10789920" cy="502920"/>
          </a:xfrm>
          <a:prstGeom prst="rect">
            <a:avLst/>
          </a:prstGeom>
          <a:noFill/>
        </p:spPr>
        <p:txBody>
          <a:bodyPr wrap="square" lIns="0" rIns="0">
            <a:spAutoFit/>
          </a:bodyPr>
          <a:lstStyle/>
          <a:p>
            <a:pPr algn="l">
              <a:defRPr sz="2900" b="1">
                <a:solidFill>
                  <a:srgbClr val="FFFFFF"/>
                </a:solidFill>
                <a:latin typeface="Aptos"/>
              </a:defRPr>
            </a:pPr>
            <a:r>
              <a:t>TRELLO FOR DEVOPS</a:t>
            </a:r>
          </a:p>
        </p:txBody>
      </p:sp>
      <p:sp>
        <p:nvSpPr>
          <p:cNvPr id="5" name="TextBox 4"/>
          <p:cNvSpPr txBox="1"/>
          <p:nvPr/>
        </p:nvSpPr>
        <p:spPr>
          <a:xfrm>
            <a:off x="658368" y="841248"/>
            <a:ext cx="10424160" cy="320040"/>
          </a:xfrm>
          <a:prstGeom prst="rect">
            <a:avLst/>
          </a:prstGeom>
          <a:noFill/>
        </p:spPr>
        <p:txBody>
          <a:bodyPr wrap="square" lIns="0" rIns="0">
            <a:spAutoFit/>
          </a:bodyPr>
          <a:lstStyle/>
          <a:p>
            <a:pPr algn="l">
              <a:defRPr sz="1300" b="0">
                <a:solidFill>
                  <a:srgbClr val="D7E6F5"/>
                </a:solidFill>
                <a:latin typeface="Aptos"/>
              </a:defRPr>
            </a:pPr>
            <a:r>
              <a:t>Agile workflow management • Automation • GitOps • DevSecOps</a:t>
            </a:r>
          </a:p>
        </p:txBody>
      </p:sp>
      <p:sp>
        <p:nvSpPr>
          <p:cNvPr id="6" name="TextBox 5"/>
          <p:cNvSpPr txBox="1"/>
          <p:nvPr/>
        </p:nvSpPr>
        <p:spPr>
          <a:xfrm>
            <a:off x="658368" y="1828800"/>
            <a:ext cx="7132320" cy="640080"/>
          </a:xfrm>
          <a:prstGeom prst="rect">
            <a:avLst/>
          </a:prstGeom>
          <a:noFill/>
        </p:spPr>
        <p:txBody>
          <a:bodyPr wrap="square" lIns="0" rIns="0">
            <a:spAutoFit/>
          </a:bodyPr>
          <a:lstStyle/>
          <a:p>
            <a:pPr algn="l">
              <a:defRPr sz="2400" b="1">
                <a:solidFill>
                  <a:srgbClr val="123056"/>
                </a:solidFill>
                <a:latin typeface="Aptos"/>
              </a:defRPr>
            </a:pPr>
            <a:r>
              <a:t>A visual way to plan, track and move engineering work</a:t>
            </a:r>
          </a:p>
        </p:txBody>
      </p:sp>
      <p:sp>
        <p:nvSpPr>
          <p:cNvPr id="7" name="TextBox 6"/>
          <p:cNvSpPr txBox="1"/>
          <p:nvPr/>
        </p:nvSpPr>
        <p:spPr>
          <a:xfrm>
            <a:off x="658368" y="2560320"/>
            <a:ext cx="7132320" cy="914400"/>
          </a:xfrm>
          <a:prstGeom prst="rect">
            <a:avLst/>
          </a:prstGeom>
          <a:noFill/>
        </p:spPr>
        <p:txBody>
          <a:bodyPr wrap="square" lIns="0" rIns="0">
            <a:spAutoFit/>
          </a:bodyPr>
          <a:lstStyle/>
          <a:p>
            <a:pPr algn="l">
              <a:defRPr sz="1400" b="0">
                <a:solidFill>
                  <a:srgbClr val="28303A"/>
                </a:solidFill>
                <a:latin typeface="Aptos"/>
              </a:defRPr>
            </a:pPr>
            <a:r>
              <a:t>Reference presentation based on the supplied 5-page technical guide. Covers Trello fundamentals, DevOps use cases, Butler automation, integrations and Zero Trust workflow controls.</a:t>
            </a:r>
          </a:p>
        </p:txBody>
      </p:sp>
      <p:sp>
        <p:nvSpPr>
          <p:cNvPr id="8" name="TextBox 7"/>
          <p:cNvSpPr txBox="1"/>
          <p:nvPr/>
        </p:nvSpPr>
        <p:spPr>
          <a:xfrm>
            <a:off x="8229600" y="1828800"/>
            <a:ext cx="3108960" cy="274320"/>
          </a:xfrm>
          <a:prstGeom prst="rect">
            <a:avLst/>
          </a:prstGeom>
          <a:noFill/>
        </p:spPr>
        <p:txBody>
          <a:bodyPr wrap="square" lIns="0" rIns="0">
            <a:spAutoFit/>
          </a:bodyPr>
          <a:lstStyle/>
          <a:p>
            <a:pPr algn="l">
              <a:defRPr sz="1000" b="1">
                <a:solidFill>
                  <a:srgbClr val="1C9DA5"/>
                </a:solidFill>
                <a:latin typeface="Aptos"/>
              </a:defRPr>
            </a:pPr>
            <a:r>
              <a:t>KANBAN AT A GLANCE</a:t>
            </a:r>
          </a:p>
        </p:txBody>
      </p:sp>
      <p:sp>
        <p:nvSpPr>
          <p:cNvPr id="9" name="Rounded Rectangle 8"/>
          <p:cNvSpPr/>
          <p:nvPr/>
        </p:nvSpPr>
        <p:spPr>
          <a:xfrm>
            <a:off x="8092440" y="2331720"/>
            <a:ext cx="577900" cy="658368"/>
          </a:xfrm>
          <a:prstGeom prst="round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2505456"/>
            <a:ext cx="486460" cy="274320"/>
          </a:xfrm>
          <a:prstGeom prst="rect">
            <a:avLst/>
          </a:prstGeom>
          <a:noFill/>
        </p:spPr>
        <p:txBody>
          <a:bodyPr wrap="square" lIns="0" rIns="0">
            <a:spAutoFit/>
          </a:bodyPr>
          <a:lstStyle/>
          <a:p>
            <a:pPr algn="ctr">
              <a:defRPr sz="1150" b="1">
                <a:solidFill>
                  <a:srgbClr val="FFFFFF"/>
                </a:solidFill>
                <a:latin typeface="Aptos"/>
              </a:defRPr>
            </a:pPr>
            <a:r>
              <a:t>BACKLOG</a:t>
            </a:r>
          </a:p>
        </p:txBody>
      </p:sp>
      <p:sp>
        <p:nvSpPr>
          <p:cNvPr id="11" name="TextBox 10"/>
          <p:cNvSpPr txBox="1"/>
          <p:nvPr/>
        </p:nvSpPr>
        <p:spPr>
          <a:xfrm>
            <a:off x="8679484" y="251460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2" name="Rounded Rectangle 11"/>
          <p:cNvSpPr/>
          <p:nvPr/>
        </p:nvSpPr>
        <p:spPr>
          <a:xfrm>
            <a:off x="8816644" y="2331720"/>
            <a:ext cx="577900" cy="658368"/>
          </a:xfrm>
          <a:prstGeom prst="round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2364" y="2505456"/>
            <a:ext cx="486460" cy="274320"/>
          </a:xfrm>
          <a:prstGeom prst="rect">
            <a:avLst/>
          </a:prstGeom>
          <a:noFill/>
        </p:spPr>
        <p:txBody>
          <a:bodyPr wrap="square" lIns="0" rIns="0">
            <a:spAutoFit/>
          </a:bodyPr>
          <a:lstStyle/>
          <a:p>
            <a:pPr algn="ctr">
              <a:defRPr sz="1150" b="1">
                <a:solidFill>
                  <a:srgbClr val="FFFFFF"/>
                </a:solidFill>
                <a:latin typeface="Aptos"/>
              </a:defRPr>
            </a:pPr>
            <a:r>
              <a:t>IN PROGRESS</a:t>
            </a:r>
          </a:p>
        </p:txBody>
      </p:sp>
      <p:sp>
        <p:nvSpPr>
          <p:cNvPr id="14" name="TextBox 13"/>
          <p:cNvSpPr txBox="1"/>
          <p:nvPr/>
        </p:nvSpPr>
        <p:spPr>
          <a:xfrm>
            <a:off x="9403689" y="251460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5" name="Rounded Rectangle 14"/>
          <p:cNvSpPr/>
          <p:nvPr/>
        </p:nvSpPr>
        <p:spPr>
          <a:xfrm>
            <a:off x="9540849" y="2331720"/>
            <a:ext cx="577900" cy="658368"/>
          </a:xfrm>
          <a:prstGeom prst="round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86569" y="2505456"/>
            <a:ext cx="486460" cy="274320"/>
          </a:xfrm>
          <a:prstGeom prst="rect">
            <a:avLst/>
          </a:prstGeom>
          <a:noFill/>
        </p:spPr>
        <p:txBody>
          <a:bodyPr wrap="square" lIns="0" rIns="0">
            <a:spAutoFit/>
          </a:bodyPr>
          <a:lstStyle/>
          <a:p>
            <a:pPr algn="ctr">
              <a:defRPr sz="1150" b="1">
                <a:solidFill>
                  <a:srgbClr val="FFFFFF"/>
                </a:solidFill>
                <a:latin typeface="Aptos"/>
              </a:defRPr>
            </a:pPr>
            <a:r>
              <a:t>CODE REVIEW</a:t>
            </a:r>
          </a:p>
        </p:txBody>
      </p:sp>
      <p:sp>
        <p:nvSpPr>
          <p:cNvPr id="17" name="TextBox 16"/>
          <p:cNvSpPr txBox="1"/>
          <p:nvPr/>
        </p:nvSpPr>
        <p:spPr>
          <a:xfrm>
            <a:off x="10127894" y="251460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8" name="Rounded Rectangle 17"/>
          <p:cNvSpPr/>
          <p:nvPr/>
        </p:nvSpPr>
        <p:spPr>
          <a:xfrm>
            <a:off x="10265054" y="2331720"/>
            <a:ext cx="577900" cy="658368"/>
          </a:xfrm>
          <a:prstGeom prst="round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310774" y="2505456"/>
            <a:ext cx="486460" cy="274320"/>
          </a:xfrm>
          <a:prstGeom prst="rect">
            <a:avLst/>
          </a:prstGeom>
          <a:noFill/>
        </p:spPr>
        <p:txBody>
          <a:bodyPr wrap="square" lIns="0" rIns="0">
            <a:spAutoFit/>
          </a:bodyPr>
          <a:lstStyle/>
          <a:p>
            <a:pPr algn="ctr">
              <a:defRPr sz="1150" b="1">
                <a:solidFill>
                  <a:srgbClr val="FFFFFF"/>
                </a:solidFill>
                <a:latin typeface="Aptos"/>
              </a:defRPr>
            </a:pPr>
            <a:r>
              <a:t>TESTING</a:t>
            </a:r>
          </a:p>
        </p:txBody>
      </p:sp>
      <p:sp>
        <p:nvSpPr>
          <p:cNvPr id="20" name="TextBox 19"/>
          <p:cNvSpPr txBox="1"/>
          <p:nvPr/>
        </p:nvSpPr>
        <p:spPr>
          <a:xfrm>
            <a:off x="10852099" y="251460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21" name="Rounded Rectangle 20"/>
          <p:cNvSpPr/>
          <p:nvPr/>
        </p:nvSpPr>
        <p:spPr>
          <a:xfrm>
            <a:off x="10989259" y="2331720"/>
            <a:ext cx="577900" cy="658368"/>
          </a:xfrm>
          <a:prstGeom prst="round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034979" y="2505456"/>
            <a:ext cx="486460" cy="274320"/>
          </a:xfrm>
          <a:prstGeom prst="rect">
            <a:avLst/>
          </a:prstGeom>
          <a:noFill/>
        </p:spPr>
        <p:txBody>
          <a:bodyPr wrap="square" lIns="0" rIns="0">
            <a:spAutoFit/>
          </a:bodyPr>
          <a:lstStyle/>
          <a:p>
            <a:pPr algn="ctr">
              <a:defRPr sz="1150" b="1">
                <a:solidFill>
                  <a:srgbClr val="FFFFFF"/>
                </a:solidFill>
                <a:latin typeface="Aptos"/>
              </a:defRPr>
            </a:pPr>
            <a:r>
              <a:t>SHIPPED</a:t>
            </a:r>
          </a:p>
        </p:txBody>
      </p:sp>
      <p:sp>
        <p:nvSpPr>
          <p:cNvPr id="23" name="TextBox 22"/>
          <p:cNvSpPr txBox="1"/>
          <p:nvPr/>
        </p:nvSpPr>
        <p:spPr>
          <a:xfrm>
            <a:off x="8138160" y="3703320"/>
            <a:ext cx="3383280" cy="1097280"/>
          </a:xfrm>
          <a:prstGeom prst="rect">
            <a:avLst/>
          </a:prstGeom>
          <a:noFill/>
        </p:spPr>
        <p:txBody>
          <a:bodyPr wrap="square" lIns="0" rIns="0">
            <a:spAutoFit/>
          </a:bodyPr>
          <a:lstStyle/>
          <a:p>
            <a:pPr algn="ctr">
              <a:defRPr sz="1400" b="1">
                <a:solidFill>
                  <a:srgbClr val="66707C"/>
                </a:solidFill>
                <a:latin typeface="Aptos"/>
              </a:defRPr>
            </a:pPr>
            <a:r>
              <a:t>Boards → Lists → Cards</a:t>
            </a:r>
            <a:br/>
            <a:r>
              <a:t>Work moves as its state changes.</a:t>
            </a:r>
          </a:p>
        </p:txBody>
      </p:sp>
      <p:sp>
        <p:nvSpPr>
          <p:cNvPr id="24" name="TextBox 23"/>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1</a:t>
            </a:r>
          </a:p>
        </p:txBody>
      </p:sp>
      <p:sp>
        <p:nvSpPr>
          <p:cNvPr id="25" name="Rounded Rectangle 24"/>
          <p:cNvSpPr/>
          <p:nvPr/>
        </p:nvSpPr>
        <p:spPr>
          <a:xfrm>
            <a:off x="658368" y="3429000"/>
            <a:ext cx="6995160" cy="20574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6112" y="3639312"/>
            <a:ext cx="6446520" cy="320040"/>
          </a:xfrm>
          <a:prstGeom prst="rect">
            <a:avLst/>
          </a:prstGeom>
          <a:noFill/>
        </p:spPr>
        <p:txBody>
          <a:bodyPr wrap="none">
            <a:spAutoFit/>
          </a:bodyPr>
          <a:lstStyle/>
          <a:p>
            <a:pPr>
              <a:defRPr sz="1500" b="1">
                <a:solidFill>
                  <a:srgbClr val="123056"/>
                </a:solidFill>
                <a:latin typeface="Aptos"/>
              </a:defRPr>
            </a:pPr>
            <a:r>
              <a:t>Trello in a DevOps Environment</a:t>
            </a:r>
          </a:p>
        </p:txBody>
      </p:sp>
      <p:sp>
        <p:nvSpPr>
          <p:cNvPr id="27" name="TextBox 26"/>
          <p:cNvSpPr txBox="1"/>
          <p:nvPr/>
        </p:nvSpPr>
        <p:spPr>
          <a:xfrm>
            <a:off x="896112" y="4050791"/>
            <a:ext cx="6419088" cy="1234440"/>
          </a:xfrm>
          <a:prstGeom prst="rect">
            <a:avLst/>
          </a:prstGeom>
          <a:noFill/>
        </p:spPr>
        <p:txBody>
          <a:bodyPr wrap="square" lIns="0" tIns="0" rIns="0" bIns="0">
            <a:spAutoFit/>
          </a:bodyPr>
          <a:lstStyle/>
          <a:p>
            <a:pPr>
              <a:lnSpc>
                <a:spcPct val="105000"/>
              </a:lnSpc>
              <a:defRPr sz="1120">
                <a:solidFill>
                  <a:srgbClr val="28303A"/>
                </a:solidFill>
                <a:latin typeface="Aptos"/>
              </a:defRPr>
            </a:pPr>
            <a:r>
              <a:t>Trello is a visual project and task-management platform based on Kanban-style workflows. It organizes work through Workspaces, Boards, Lists and Cards, allowing a team to see the current state of every task at a glance. In DevOps, the board can represent the complete flow from planning and development to code review, testing and deployment. Cards can be assigned to developers, testers or DevOps engineers and can contain checklists, labels, due dates, comments and attachments. As work progresses, cards are moved between lists, making project status and ownership easy to understand. Trello can also be extended with automation and integrations, while CI/CD tools perform the actual build, test and deployment operations.</a:t>
            </a:r>
          </a:p>
        </p:txBody>
      </p:sp>
      <p:sp>
        <p:nvSpPr>
          <p:cNvPr id="28" name="Rounded Rectangle 27"/>
          <p:cNvSpPr/>
          <p:nvPr/>
        </p:nvSpPr>
        <p:spPr>
          <a:xfrm>
            <a:off x="658368" y="5650992"/>
            <a:ext cx="6995160" cy="475488"/>
          </a:xfrm>
          <a:prstGeom prst="round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751576"/>
            <a:ext cx="6675120" cy="256032"/>
          </a:xfrm>
          <a:prstGeom prst="rect">
            <a:avLst/>
          </a:prstGeom>
          <a:noFill/>
        </p:spPr>
        <p:txBody>
          <a:bodyPr wrap="none">
            <a:spAutoFit/>
          </a:bodyPr>
          <a:lstStyle/>
          <a:p>
            <a:pPr algn="ctr">
              <a:defRPr sz="1050" b="1">
                <a:solidFill>
                  <a:srgbClr val="FFFFFF"/>
                </a:solidFill>
                <a:latin typeface="Aptos"/>
              </a:defRPr>
            </a:pPr>
            <a:r>
              <a:t>Key idea: Make work visible → assign ownership → track progress → deliver reliably.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1. What is Trello?</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FUNDAMENTALS</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43000"/>
            <a:ext cx="6858000" cy="457200"/>
          </a:xfrm>
          <a:prstGeom prst="rect">
            <a:avLst/>
          </a:prstGeom>
          <a:noFill/>
        </p:spPr>
        <p:txBody>
          <a:bodyPr wrap="square" lIns="0" rIns="0">
            <a:spAutoFit/>
          </a:bodyPr>
          <a:lstStyle/>
          <a:p>
            <a:pPr algn="l">
              <a:defRPr sz="1600" b="0">
                <a:solidFill>
                  <a:srgbClr val="28303A"/>
                </a:solidFill>
                <a:latin typeface="Aptos"/>
              </a:defRPr>
            </a:pPr>
            <a:r>
              <a:t>Trello is a lightweight, highly visual project-management platform built around Kanban and Scrum principles.</a:t>
            </a:r>
          </a:p>
        </p:txBody>
      </p:sp>
      <p:sp>
        <p:nvSpPr>
          <p:cNvPr id="8" name="Rounded Rectangle 7"/>
          <p:cNvSpPr/>
          <p:nvPr/>
        </p:nvSpPr>
        <p:spPr>
          <a:xfrm>
            <a:off x="640080" y="1828800"/>
            <a:ext cx="347472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828800"/>
            <a:ext cx="64008" cy="150876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993392"/>
            <a:ext cx="3108960" cy="320040"/>
          </a:xfrm>
          <a:prstGeom prst="rect">
            <a:avLst/>
          </a:prstGeom>
          <a:noFill/>
        </p:spPr>
        <p:txBody>
          <a:bodyPr wrap="square" lIns="0" rIns="0">
            <a:spAutoFit/>
          </a:bodyPr>
          <a:lstStyle/>
          <a:p>
            <a:pPr algn="l">
              <a:defRPr sz="1400" b="1">
                <a:solidFill>
                  <a:srgbClr val="123056"/>
                </a:solidFill>
                <a:latin typeface="Aptos"/>
              </a:defRPr>
            </a:pPr>
            <a:r>
              <a:t>Workspace</a:t>
            </a:r>
          </a:p>
        </p:txBody>
      </p:sp>
      <p:sp>
        <p:nvSpPr>
          <p:cNvPr id="11" name="TextBox 10"/>
          <p:cNvSpPr txBox="1"/>
          <p:nvPr/>
        </p:nvSpPr>
        <p:spPr>
          <a:xfrm>
            <a:off x="841247" y="2395728"/>
            <a:ext cx="3108960" cy="850392"/>
          </a:xfrm>
          <a:prstGeom prst="rect">
            <a:avLst/>
          </a:prstGeom>
          <a:noFill/>
        </p:spPr>
        <p:txBody>
          <a:bodyPr wrap="square" lIns="0" rIns="0">
            <a:spAutoFit/>
          </a:bodyPr>
          <a:lstStyle/>
          <a:p>
            <a:pPr algn="l">
              <a:defRPr sz="1150" b="0">
                <a:solidFill>
                  <a:srgbClr val="28303A"/>
                </a:solidFill>
                <a:latin typeface="Aptos"/>
              </a:defRPr>
            </a:pPr>
            <a:r>
              <a:t>Top-level container for a company, department or engineering unit. Handles permissions, SSO and shared administration.</a:t>
            </a:r>
          </a:p>
        </p:txBody>
      </p:sp>
      <p:sp>
        <p:nvSpPr>
          <p:cNvPr id="12" name="Rounded Rectangle 11"/>
          <p:cNvSpPr/>
          <p:nvPr/>
        </p:nvSpPr>
        <p:spPr>
          <a:xfrm>
            <a:off x="4343400" y="1828800"/>
            <a:ext cx="347472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828800"/>
            <a:ext cx="64008" cy="1508760"/>
          </a:xfrm>
          <a:prstGeom prst="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993392"/>
            <a:ext cx="3108960" cy="320040"/>
          </a:xfrm>
          <a:prstGeom prst="rect">
            <a:avLst/>
          </a:prstGeom>
          <a:noFill/>
        </p:spPr>
        <p:txBody>
          <a:bodyPr wrap="square" lIns="0" rIns="0">
            <a:spAutoFit/>
          </a:bodyPr>
          <a:lstStyle/>
          <a:p>
            <a:pPr algn="l">
              <a:defRPr sz="1400" b="1">
                <a:solidFill>
                  <a:srgbClr val="123056"/>
                </a:solidFill>
                <a:latin typeface="Aptos"/>
              </a:defRPr>
            </a:pPr>
            <a:r>
              <a:t>Board</a:t>
            </a:r>
          </a:p>
        </p:txBody>
      </p:sp>
      <p:sp>
        <p:nvSpPr>
          <p:cNvPr id="15" name="TextBox 14"/>
          <p:cNvSpPr txBox="1"/>
          <p:nvPr/>
        </p:nvSpPr>
        <p:spPr>
          <a:xfrm>
            <a:off x="4544568" y="2395728"/>
            <a:ext cx="3108960" cy="850392"/>
          </a:xfrm>
          <a:prstGeom prst="rect">
            <a:avLst/>
          </a:prstGeom>
          <a:noFill/>
        </p:spPr>
        <p:txBody>
          <a:bodyPr wrap="square" lIns="0" rIns="0">
            <a:spAutoFit/>
          </a:bodyPr>
          <a:lstStyle/>
          <a:p>
            <a:pPr algn="l">
              <a:defRPr sz="1150" b="0">
                <a:solidFill>
                  <a:srgbClr val="28303A"/>
                </a:solidFill>
                <a:latin typeface="Aptos"/>
              </a:defRPr>
            </a:pPr>
            <a:r>
              <a:t>Dedicated visual space for a project, sprint cycle, product roadmap or incident workflow.</a:t>
            </a:r>
          </a:p>
        </p:txBody>
      </p:sp>
      <p:sp>
        <p:nvSpPr>
          <p:cNvPr id="16" name="Rounded Rectangle 15"/>
          <p:cNvSpPr/>
          <p:nvPr/>
        </p:nvSpPr>
        <p:spPr>
          <a:xfrm>
            <a:off x="8046720" y="1828800"/>
            <a:ext cx="347472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828800"/>
            <a:ext cx="64008" cy="1508760"/>
          </a:xfrm>
          <a:prstGeom prst="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1993392"/>
            <a:ext cx="3108960" cy="320040"/>
          </a:xfrm>
          <a:prstGeom prst="rect">
            <a:avLst/>
          </a:prstGeom>
          <a:noFill/>
        </p:spPr>
        <p:txBody>
          <a:bodyPr wrap="square" lIns="0" rIns="0">
            <a:spAutoFit/>
          </a:bodyPr>
          <a:lstStyle/>
          <a:p>
            <a:pPr algn="l">
              <a:defRPr sz="1400" b="1">
                <a:solidFill>
                  <a:srgbClr val="123056"/>
                </a:solidFill>
                <a:latin typeface="Aptos"/>
              </a:defRPr>
            </a:pPr>
            <a:r>
              <a:t>List / Column</a:t>
            </a:r>
          </a:p>
        </p:txBody>
      </p:sp>
      <p:sp>
        <p:nvSpPr>
          <p:cNvPr id="19" name="TextBox 18"/>
          <p:cNvSpPr txBox="1"/>
          <p:nvPr/>
        </p:nvSpPr>
        <p:spPr>
          <a:xfrm>
            <a:off x="8247888" y="2395728"/>
            <a:ext cx="3108960" cy="850392"/>
          </a:xfrm>
          <a:prstGeom prst="rect">
            <a:avLst/>
          </a:prstGeom>
          <a:noFill/>
        </p:spPr>
        <p:txBody>
          <a:bodyPr wrap="square" lIns="0" rIns="0">
            <a:spAutoFit/>
          </a:bodyPr>
          <a:lstStyle/>
          <a:p>
            <a:pPr algn="l">
              <a:defRPr sz="1150" b="0">
                <a:solidFill>
                  <a:srgbClr val="28303A"/>
                </a:solidFill>
                <a:latin typeface="Aptos"/>
              </a:defRPr>
            </a:pPr>
            <a:r>
              <a:t>A workflow stage such as Backlog, In Progress, Code Review, Testing or Shipped.</a:t>
            </a:r>
          </a:p>
        </p:txBody>
      </p:sp>
      <p:sp>
        <p:nvSpPr>
          <p:cNvPr id="20" name="Rounded Rectangle 19"/>
          <p:cNvSpPr/>
          <p:nvPr/>
        </p:nvSpPr>
        <p:spPr>
          <a:xfrm>
            <a:off x="640080" y="3611880"/>
            <a:ext cx="52120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64008" cy="1508760"/>
          </a:xfrm>
          <a:prstGeom prst="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3776472"/>
            <a:ext cx="4846320" cy="320040"/>
          </a:xfrm>
          <a:prstGeom prst="rect">
            <a:avLst/>
          </a:prstGeom>
          <a:noFill/>
        </p:spPr>
        <p:txBody>
          <a:bodyPr wrap="square" lIns="0" rIns="0">
            <a:spAutoFit/>
          </a:bodyPr>
          <a:lstStyle/>
          <a:p>
            <a:pPr algn="l">
              <a:defRPr sz="1400" b="1">
                <a:solidFill>
                  <a:srgbClr val="123056"/>
                </a:solidFill>
                <a:latin typeface="Aptos"/>
              </a:defRPr>
            </a:pPr>
            <a:r>
              <a:t>Card</a:t>
            </a:r>
          </a:p>
        </p:txBody>
      </p:sp>
      <p:sp>
        <p:nvSpPr>
          <p:cNvPr id="23" name="TextBox 22"/>
          <p:cNvSpPr txBox="1"/>
          <p:nvPr/>
        </p:nvSpPr>
        <p:spPr>
          <a:xfrm>
            <a:off x="841247" y="4178808"/>
            <a:ext cx="4846320" cy="850392"/>
          </a:xfrm>
          <a:prstGeom prst="rect">
            <a:avLst/>
          </a:prstGeom>
          <a:noFill/>
        </p:spPr>
        <p:txBody>
          <a:bodyPr wrap="square" lIns="0" rIns="0">
            <a:spAutoFit/>
          </a:bodyPr>
          <a:lstStyle/>
          <a:p>
            <a:pPr algn="l">
              <a:defRPr sz="1150" b="0">
                <a:solidFill>
                  <a:srgbClr val="28303A"/>
                </a:solidFill>
                <a:latin typeface="Aptos"/>
              </a:defRPr>
            </a:pPr>
            <a:r>
              <a:t>The atomic unit of work: user story, bug, pull request or infrastructure task. Cards can hold checklists, due dates, assignees, attachments and custom fields.</a:t>
            </a:r>
          </a:p>
        </p:txBody>
      </p:sp>
      <p:sp>
        <p:nvSpPr>
          <p:cNvPr id="24" name="Rounded Rectangle 23"/>
          <p:cNvSpPr/>
          <p:nvPr/>
        </p:nvSpPr>
        <p:spPr>
          <a:xfrm>
            <a:off x="6080760" y="3611880"/>
            <a:ext cx="5440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80760" y="3611880"/>
            <a:ext cx="64008" cy="1508760"/>
          </a:xfrm>
          <a:prstGeom prst="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81928" y="3776472"/>
            <a:ext cx="5074920" cy="320040"/>
          </a:xfrm>
          <a:prstGeom prst="rect">
            <a:avLst/>
          </a:prstGeom>
          <a:noFill/>
        </p:spPr>
        <p:txBody>
          <a:bodyPr wrap="square" lIns="0" rIns="0">
            <a:spAutoFit/>
          </a:bodyPr>
          <a:lstStyle/>
          <a:p>
            <a:pPr algn="l">
              <a:defRPr sz="1400" b="1">
                <a:solidFill>
                  <a:srgbClr val="123056"/>
                </a:solidFill>
                <a:latin typeface="Aptos"/>
              </a:defRPr>
            </a:pPr>
            <a:r>
              <a:t>Why it fits DevOps</a:t>
            </a:r>
          </a:p>
        </p:txBody>
      </p:sp>
      <p:sp>
        <p:nvSpPr>
          <p:cNvPr id="27" name="TextBox 26"/>
          <p:cNvSpPr txBox="1"/>
          <p:nvPr/>
        </p:nvSpPr>
        <p:spPr>
          <a:xfrm>
            <a:off x="6281928" y="4178808"/>
            <a:ext cx="5074920" cy="850392"/>
          </a:xfrm>
          <a:prstGeom prst="rect">
            <a:avLst/>
          </a:prstGeom>
          <a:noFill/>
        </p:spPr>
        <p:txBody>
          <a:bodyPr wrap="square" lIns="0" rIns="0">
            <a:spAutoFit/>
          </a:bodyPr>
          <a:lstStyle/>
          <a:p>
            <a:pPr algn="l">
              <a:defRPr sz="1150" b="0">
                <a:solidFill>
                  <a:srgbClr val="28303A"/>
                </a:solidFill>
                <a:latin typeface="Aptos"/>
              </a:defRPr>
            </a:pPr>
            <a:r>
              <a:t>The board gives the team a shared view of work state. Power-Ups, automation and APIs can connect the board to engineering workflows.</a:t>
            </a:r>
          </a:p>
        </p:txBody>
      </p:sp>
      <p:sp>
        <p:nvSpPr>
          <p:cNvPr id="28" name="TextBox 27"/>
          <p:cNvSpPr txBox="1"/>
          <p:nvPr/>
        </p:nvSpPr>
        <p:spPr>
          <a:xfrm>
            <a:off x="640080" y="5440680"/>
            <a:ext cx="10789920" cy="320040"/>
          </a:xfrm>
          <a:prstGeom prst="rect">
            <a:avLst/>
          </a:prstGeom>
          <a:noFill/>
        </p:spPr>
        <p:txBody>
          <a:bodyPr wrap="square" lIns="0" rIns="0">
            <a:spAutoFit/>
          </a:bodyPr>
          <a:lstStyle/>
          <a:p>
            <a:pPr algn="ctr">
              <a:defRPr sz="1300" b="1">
                <a:solidFill>
                  <a:srgbClr val="2366B2"/>
                </a:solidFill>
                <a:latin typeface="Aptos"/>
              </a:defRPr>
            </a:pPr>
            <a:r>
              <a:t>Core idea: make work visible, move it through defined states, and keep ownership clear.</a:t>
            </a:r>
          </a:p>
        </p:txBody>
      </p:sp>
      <p:sp>
        <p:nvSpPr>
          <p:cNvPr id="29" name="TextBox 28"/>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2. How Trello Works in a DevOps Workflow</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WORKING</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70432"/>
            <a:ext cx="10972800" cy="365760"/>
          </a:xfrm>
          <a:prstGeom prst="rect">
            <a:avLst/>
          </a:prstGeom>
          <a:noFill/>
        </p:spPr>
        <p:txBody>
          <a:bodyPr wrap="square" lIns="0" rIns="0">
            <a:spAutoFit/>
          </a:bodyPr>
          <a:lstStyle/>
          <a:p>
            <a:pPr algn="l">
              <a:defRPr sz="1500" b="0">
                <a:solidFill>
                  <a:srgbClr val="28303A"/>
                </a:solidFill>
                <a:latin typeface="Aptos"/>
              </a:defRPr>
            </a:pPr>
            <a:r>
              <a:t>A task starts as an item in the backlog and moves across lists as its status changes.</a:t>
            </a:r>
          </a:p>
        </p:txBody>
      </p:sp>
      <p:sp>
        <p:nvSpPr>
          <p:cNvPr id="8" name="Rounded Rectangle 7"/>
          <p:cNvSpPr/>
          <p:nvPr/>
        </p:nvSpPr>
        <p:spPr>
          <a:xfrm>
            <a:off x="594360" y="1965960"/>
            <a:ext cx="1442139" cy="658368"/>
          </a:xfrm>
          <a:prstGeom prst="round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39696"/>
            <a:ext cx="1350699" cy="274320"/>
          </a:xfrm>
          <a:prstGeom prst="rect">
            <a:avLst/>
          </a:prstGeom>
          <a:noFill/>
        </p:spPr>
        <p:txBody>
          <a:bodyPr wrap="square" lIns="0" rIns="0">
            <a:spAutoFit/>
          </a:bodyPr>
          <a:lstStyle/>
          <a:p>
            <a:pPr algn="ctr">
              <a:defRPr sz="1150" b="1">
                <a:solidFill>
                  <a:srgbClr val="FFFFFF"/>
                </a:solidFill>
                <a:latin typeface="Aptos"/>
              </a:defRPr>
            </a:pPr>
            <a:r>
              <a:t>BACKLOG</a:t>
            </a:r>
          </a:p>
        </p:txBody>
      </p:sp>
      <p:sp>
        <p:nvSpPr>
          <p:cNvPr id="10" name="TextBox 9"/>
          <p:cNvSpPr txBox="1"/>
          <p:nvPr/>
        </p:nvSpPr>
        <p:spPr>
          <a:xfrm>
            <a:off x="2045643"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1" name="Rounded Rectangle 10"/>
          <p:cNvSpPr/>
          <p:nvPr/>
        </p:nvSpPr>
        <p:spPr>
          <a:xfrm>
            <a:off x="2182803" y="1965960"/>
            <a:ext cx="1442139" cy="658368"/>
          </a:xfrm>
          <a:prstGeom prst="round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28523" y="2139696"/>
            <a:ext cx="1350699" cy="274320"/>
          </a:xfrm>
          <a:prstGeom prst="rect">
            <a:avLst/>
          </a:prstGeom>
          <a:noFill/>
        </p:spPr>
        <p:txBody>
          <a:bodyPr wrap="square" lIns="0" rIns="0">
            <a:spAutoFit/>
          </a:bodyPr>
          <a:lstStyle/>
          <a:p>
            <a:pPr algn="ctr">
              <a:defRPr sz="1150" b="1">
                <a:solidFill>
                  <a:srgbClr val="FFFFFF"/>
                </a:solidFill>
                <a:latin typeface="Aptos"/>
              </a:defRPr>
            </a:pPr>
            <a:r>
              <a:t>TO DO</a:t>
            </a:r>
          </a:p>
        </p:txBody>
      </p:sp>
      <p:sp>
        <p:nvSpPr>
          <p:cNvPr id="13" name="TextBox 12"/>
          <p:cNvSpPr txBox="1"/>
          <p:nvPr/>
        </p:nvSpPr>
        <p:spPr>
          <a:xfrm>
            <a:off x="3634086"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4" name="Rounded Rectangle 13"/>
          <p:cNvSpPr/>
          <p:nvPr/>
        </p:nvSpPr>
        <p:spPr>
          <a:xfrm>
            <a:off x="3771246" y="1965960"/>
            <a:ext cx="1442139" cy="658368"/>
          </a:xfrm>
          <a:prstGeom prst="round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16966" y="2139696"/>
            <a:ext cx="1350699" cy="274320"/>
          </a:xfrm>
          <a:prstGeom prst="rect">
            <a:avLst/>
          </a:prstGeom>
          <a:noFill/>
        </p:spPr>
        <p:txBody>
          <a:bodyPr wrap="square" lIns="0" rIns="0">
            <a:spAutoFit/>
          </a:bodyPr>
          <a:lstStyle/>
          <a:p>
            <a:pPr algn="ctr">
              <a:defRPr sz="1150" b="1">
                <a:solidFill>
                  <a:srgbClr val="FFFFFF"/>
                </a:solidFill>
                <a:latin typeface="Aptos"/>
              </a:defRPr>
            </a:pPr>
            <a:r>
              <a:t>DEVELOPMENT</a:t>
            </a:r>
          </a:p>
        </p:txBody>
      </p:sp>
      <p:sp>
        <p:nvSpPr>
          <p:cNvPr id="16" name="TextBox 15"/>
          <p:cNvSpPr txBox="1"/>
          <p:nvPr/>
        </p:nvSpPr>
        <p:spPr>
          <a:xfrm>
            <a:off x="5222530"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7" name="Rounded Rectangle 16"/>
          <p:cNvSpPr/>
          <p:nvPr/>
        </p:nvSpPr>
        <p:spPr>
          <a:xfrm>
            <a:off x="5359690" y="1965960"/>
            <a:ext cx="1442139" cy="658368"/>
          </a:xfrm>
          <a:prstGeom prst="round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5410" y="2139696"/>
            <a:ext cx="1350699" cy="274320"/>
          </a:xfrm>
          <a:prstGeom prst="rect">
            <a:avLst/>
          </a:prstGeom>
          <a:noFill/>
        </p:spPr>
        <p:txBody>
          <a:bodyPr wrap="square" lIns="0" rIns="0">
            <a:spAutoFit/>
          </a:bodyPr>
          <a:lstStyle/>
          <a:p>
            <a:pPr algn="ctr">
              <a:defRPr sz="1150" b="1">
                <a:solidFill>
                  <a:srgbClr val="FFFFFF"/>
                </a:solidFill>
                <a:latin typeface="Aptos"/>
              </a:defRPr>
            </a:pPr>
            <a:r>
              <a:t>CODE REVIEW</a:t>
            </a:r>
          </a:p>
        </p:txBody>
      </p:sp>
      <p:sp>
        <p:nvSpPr>
          <p:cNvPr id="19" name="TextBox 18"/>
          <p:cNvSpPr txBox="1"/>
          <p:nvPr/>
        </p:nvSpPr>
        <p:spPr>
          <a:xfrm>
            <a:off x="6810973"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20" name="Rounded Rectangle 19"/>
          <p:cNvSpPr/>
          <p:nvPr/>
        </p:nvSpPr>
        <p:spPr>
          <a:xfrm>
            <a:off x="6948133" y="1965960"/>
            <a:ext cx="1442139" cy="658368"/>
          </a:xfrm>
          <a:prstGeom prst="round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93853" y="2139696"/>
            <a:ext cx="1350699" cy="274320"/>
          </a:xfrm>
          <a:prstGeom prst="rect">
            <a:avLst/>
          </a:prstGeom>
          <a:noFill/>
        </p:spPr>
        <p:txBody>
          <a:bodyPr wrap="square" lIns="0" rIns="0">
            <a:spAutoFit/>
          </a:bodyPr>
          <a:lstStyle/>
          <a:p>
            <a:pPr algn="ctr">
              <a:defRPr sz="1150" b="1">
                <a:solidFill>
                  <a:srgbClr val="FFFFFF"/>
                </a:solidFill>
                <a:latin typeface="Aptos"/>
              </a:defRPr>
            </a:pPr>
            <a:r>
              <a:t>TESTING</a:t>
            </a:r>
          </a:p>
        </p:txBody>
      </p:sp>
      <p:sp>
        <p:nvSpPr>
          <p:cNvPr id="22" name="TextBox 21"/>
          <p:cNvSpPr txBox="1"/>
          <p:nvPr/>
        </p:nvSpPr>
        <p:spPr>
          <a:xfrm>
            <a:off x="8399417"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23" name="Rounded Rectangle 22"/>
          <p:cNvSpPr/>
          <p:nvPr/>
        </p:nvSpPr>
        <p:spPr>
          <a:xfrm>
            <a:off x="8536577" y="1965960"/>
            <a:ext cx="1442139" cy="658368"/>
          </a:xfrm>
          <a:prstGeom prst="round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82297" y="2139696"/>
            <a:ext cx="1350699" cy="274320"/>
          </a:xfrm>
          <a:prstGeom prst="rect">
            <a:avLst/>
          </a:prstGeom>
          <a:noFill/>
        </p:spPr>
        <p:txBody>
          <a:bodyPr wrap="square" lIns="0" rIns="0">
            <a:spAutoFit/>
          </a:bodyPr>
          <a:lstStyle/>
          <a:p>
            <a:pPr algn="ctr">
              <a:defRPr sz="1150" b="1">
                <a:solidFill>
                  <a:srgbClr val="FFFFFF"/>
                </a:solidFill>
                <a:latin typeface="Aptos"/>
              </a:defRPr>
            </a:pPr>
            <a:r>
              <a:t>DEPLOYMENT</a:t>
            </a:r>
          </a:p>
        </p:txBody>
      </p:sp>
      <p:sp>
        <p:nvSpPr>
          <p:cNvPr id="25" name="TextBox 24"/>
          <p:cNvSpPr txBox="1"/>
          <p:nvPr/>
        </p:nvSpPr>
        <p:spPr>
          <a:xfrm>
            <a:off x="9987860" y="214884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26" name="Rounded Rectangle 25"/>
          <p:cNvSpPr/>
          <p:nvPr/>
        </p:nvSpPr>
        <p:spPr>
          <a:xfrm>
            <a:off x="10125020" y="1965960"/>
            <a:ext cx="1442139" cy="658368"/>
          </a:xfrm>
          <a:prstGeom prst="round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170740" y="2139696"/>
            <a:ext cx="1350699" cy="274320"/>
          </a:xfrm>
          <a:prstGeom prst="rect">
            <a:avLst/>
          </a:prstGeom>
          <a:noFill/>
        </p:spPr>
        <p:txBody>
          <a:bodyPr wrap="square" lIns="0" rIns="0">
            <a:spAutoFit/>
          </a:bodyPr>
          <a:lstStyle/>
          <a:p>
            <a:pPr algn="ctr">
              <a:defRPr sz="1150" b="1">
                <a:solidFill>
                  <a:srgbClr val="FFFFFF"/>
                </a:solidFill>
                <a:latin typeface="Aptos"/>
              </a:defRPr>
            </a:pPr>
            <a:r>
              <a:t>DONE</a:t>
            </a:r>
          </a:p>
        </p:txBody>
      </p:sp>
      <p:sp>
        <p:nvSpPr>
          <p:cNvPr id="28" name="TextBox 27"/>
          <p:cNvSpPr txBox="1"/>
          <p:nvPr/>
        </p:nvSpPr>
        <p:spPr>
          <a:xfrm>
            <a:off x="685800" y="3154680"/>
            <a:ext cx="411480" cy="365760"/>
          </a:xfrm>
          <a:prstGeom prst="rect">
            <a:avLst/>
          </a:prstGeom>
          <a:noFill/>
        </p:spPr>
        <p:txBody>
          <a:bodyPr wrap="square" lIns="0" rIns="0">
            <a:spAutoFit/>
          </a:bodyPr>
          <a:lstStyle/>
          <a:p>
            <a:pPr algn="ctr">
              <a:defRPr sz="1100" b="1">
                <a:solidFill>
                  <a:srgbClr val="FFFFFF"/>
                </a:solidFill>
                <a:latin typeface="Aptos"/>
              </a:defRPr>
            </a:pPr>
            <a:r>
              <a:t>01</a:t>
            </a:r>
          </a:p>
        </p:txBody>
      </p:sp>
      <p:sp>
        <p:nvSpPr>
          <p:cNvPr id="29" name="Oval 28"/>
          <p:cNvSpPr/>
          <p:nvPr/>
        </p:nvSpPr>
        <p:spPr>
          <a:xfrm>
            <a:off x="685800" y="3154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2728" y="3136392"/>
            <a:ext cx="2834640" cy="274320"/>
          </a:xfrm>
          <a:prstGeom prst="rect">
            <a:avLst/>
          </a:prstGeom>
          <a:noFill/>
        </p:spPr>
        <p:txBody>
          <a:bodyPr wrap="square" lIns="0" rIns="0">
            <a:spAutoFit/>
          </a:bodyPr>
          <a:lstStyle/>
          <a:p>
            <a:pPr algn="l">
              <a:defRPr sz="1200" b="1">
                <a:solidFill>
                  <a:srgbClr val="123056"/>
                </a:solidFill>
                <a:latin typeface="Aptos"/>
              </a:defRPr>
            </a:pPr>
            <a:r>
              <a:t>Create board</a:t>
            </a:r>
          </a:p>
        </p:txBody>
      </p:sp>
      <p:sp>
        <p:nvSpPr>
          <p:cNvPr id="31" name="TextBox 30"/>
          <p:cNvSpPr txBox="1"/>
          <p:nvPr/>
        </p:nvSpPr>
        <p:spPr>
          <a:xfrm>
            <a:off x="1252728" y="3465576"/>
            <a:ext cx="2880360" cy="502920"/>
          </a:xfrm>
          <a:prstGeom prst="rect">
            <a:avLst/>
          </a:prstGeom>
          <a:noFill/>
        </p:spPr>
        <p:txBody>
          <a:bodyPr wrap="square" lIns="0" rIns="0">
            <a:spAutoFit/>
          </a:bodyPr>
          <a:lstStyle/>
          <a:p>
            <a:pPr algn="l">
              <a:defRPr sz="1050" b="0">
                <a:solidFill>
                  <a:srgbClr val="28303A"/>
                </a:solidFill>
                <a:latin typeface="Aptos"/>
              </a:defRPr>
            </a:pPr>
            <a:r>
              <a:t>Choose a workflow for the project.</a:t>
            </a:r>
          </a:p>
        </p:txBody>
      </p:sp>
      <p:sp>
        <p:nvSpPr>
          <p:cNvPr id="32" name="TextBox 31"/>
          <p:cNvSpPr txBox="1"/>
          <p:nvPr/>
        </p:nvSpPr>
        <p:spPr>
          <a:xfrm>
            <a:off x="4389120" y="3154680"/>
            <a:ext cx="411480" cy="365760"/>
          </a:xfrm>
          <a:prstGeom prst="rect">
            <a:avLst/>
          </a:prstGeom>
          <a:noFill/>
        </p:spPr>
        <p:txBody>
          <a:bodyPr wrap="square" lIns="0" rIns="0">
            <a:spAutoFit/>
          </a:bodyPr>
          <a:lstStyle/>
          <a:p>
            <a:pPr algn="ctr">
              <a:defRPr sz="1100" b="1">
                <a:solidFill>
                  <a:srgbClr val="FFFFFF"/>
                </a:solidFill>
                <a:latin typeface="Aptos"/>
              </a:defRPr>
            </a:pPr>
            <a:r>
              <a:t>02</a:t>
            </a:r>
          </a:p>
        </p:txBody>
      </p:sp>
      <p:sp>
        <p:nvSpPr>
          <p:cNvPr id="33" name="Oval 32"/>
          <p:cNvSpPr/>
          <p:nvPr/>
        </p:nvSpPr>
        <p:spPr>
          <a:xfrm>
            <a:off x="4389120" y="3154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56048" y="3136392"/>
            <a:ext cx="2834640" cy="274320"/>
          </a:xfrm>
          <a:prstGeom prst="rect">
            <a:avLst/>
          </a:prstGeom>
          <a:noFill/>
        </p:spPr>
        <p:txBody>
          <a:bodyPr wrap="square" lIns="0" rIns="0">
            <a:spAutoFit/>
          </a:bodyPr>
          <a:lstStyle/>
          <a:p>
            <a:pPr algn="l">
              <a:defRPr sz="1200" b="1">
                <a:solidFill>
                  <a:srgbClr val="123056"/>
                </a:solidFill>
                <a:latin typeface="Aptos"/>
              </a:defRPr>
            </a:pPr>
            <a:r>
              <a:t>Add cards</a:t>
            </a:r>
          </a:p>
        </p:txBody>
      </p:sp>
      <p:sp>
        <p:nvSpPr>
          <p:cNvPr id="35" name="TextBox 34"/>
          <p:cNvSpPr txBox="1"/>
          <p:nvPr/>
        </p:nvSpPr>
        <p:spPr>
          <a:xfrm>
            <a:off x="4956048" y="3465576"/>
            <a:ext cx="2880360" cy="502920"/>
          </a:xfrm>
          <a:prstGeom prst="rect">
            <a:avLst/>
          </a:prstGeom>
          <a:noFill/>
        </p:spPr>
        <p:txBody>
          <a:bodyPr wrap="square" lIns="0" rIns="0">
            <a:spAutoFit/>
          </a:bodyPr>
          <a:lstStyle/>
          <a:p>
            <a:pPr algn="l">
              <a:defRPr sz="1050" b="0">
                <a:solidFill>
                  <a:srgbClr val="28303A"/>
                </a:solidFill>
                <a:latin typeface="Aptos"/>
              </a:defRPr>
            </a:pPr>
            <a:r>
              <a:t>Create a card for each feature, bug or ops task.</a:t>
            </a:r>
          </a:p>
        </p:txBody>
      </p:sp>
      <p:sp>
        <p:nvSpPr>
          <p:cNvPr id="36" name="TextBox 35"/>
          <p:cNvSpPr txBox="1"/>
          <p:nvPr/>
        </p:nvSpPr>
        <p:spPr>
          <a:xfrm>
            <a:off x="8092440" y="3154680"/>
            <a:ext cx="411480" cy="365760"/>
          </a:xfrm>
          <a:prstGeom prst="rect">
            <a:avLst/>
          </a:prstGeom>
          <a:noFill/>
        </p:spPr>
        <p:txBody>
          <a:bodyPr wrap="square" lIns="0" rIns="0">
            <a:spAutoFit/>
          </a:bodyPr>
          <a:lstStyle/>
          <a:p>
            <a:pPr algn="ctr">
              <a:defRPr sz="1100" b="1">
                <a:solidFill>
                  <a:srgbClr val="FFFFFF"/>
                </a:solidFill>
                <a:latin typeface="Aptos"/>
              </a:defRPr>
            </a:pPr>
            <a:r>
              <a:t>03</a:t>
            </a:r>
          </a:p>
        </p:txBody>
      </p:sp>
      <p:sp>
        <p:nvSpPr>
          <p:cNvPr id="37" name="Oval 36"/>
          <p:cNvSpPr/>
          <p:nvPr/>
        </p:nvSpPr>
        <p:spPr>
          <a:xfrm>
            <a:off x="8092440" y="3154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59367" y="3136392"/>
            <a:ext cx="2834640" cy="274320"/>
          </a:xfrm>
          <a:prstGeom prst="rect">
            <a:avLst/>
          </a:prstGeom>
          <a:noFill/>
        </p:spPr>
        <p:txBody>
          <a:bodyPr wrap="square" lIns="0" rIns="0">
            <a:spAutoFit/>
          </a:bodyPr>
          <a:lstStyle/>
          <a:p>
            <a:pPr algn="l">
              <a:defRPr sz="1200" b="1">
                <a:solidFill>
                  <a:srgbClr val="123056"/>
                </a:solidFill>
                <a:latin typeface="Aptos"/>
              </a:defRPr>
            </a:pPr>
            <a:r>
              <a:t>Assign &amp; enrich</a:t>
            </a:r>
          </a:p>
        </p:txBody>
      </p:sp>
      <p:sp>
        <p:nvSpPr>
          <p:cNvPr id="39" name="TextBox 38"/>
          <p:cNvSpPr txBox="1"/>
          <p:nvPr/>
        </p:nvSpPr>
        <p:spPr>
          <a:xfrm>
            <a:off x="8659367" y="3465576"/>
            <a:ext cx="2880360" cy="502920"/>
          </a:xfrm>
          <a:prstGeom prst="rect">
            <a:avLst/>
          </a:prstGeom>
          <a:noFill/>
        </p:spPr>
        <p:txBody>
          <a:bodyPr wrap="square" lIns="0" rIns="0">
            <a:spAutoFit/>
          </a:bodyPr>
          <a:lstStyle/>
          <a:p>
            <a:pPr algn="l">
              <a:defRPr sz="1050" b="0">
                <a:solidFill>
                  <a:srgbClr val="28303A"/>
                </a:solidFill>
                <a:latin typeface="Aptos"/>
              </a:defRPr>
            </a:pPr>
            <a:r>
              <a:t>Add owner, checklist, labels, fields and due date.</a:t>
            </a:r>
          </a:p>
        </p:txBody>
      </p:sp>
      <p:sp>
        <p:nvSpPr>
          <p:cNvPr id="40" name="TextBox 39"/>
          <p:cNvSpPr txBox="1"/>
          <p:nvPr/>
        </p:nvSpPr>
        <p:spPr>
          <a:xfrm>
            <a:off x="685800" y="4297680"/>
            <a:ext cx="411480" cy="365760"/>
          </a:xfrm>
          <a:prstGeom prst="rect">
            <a:avLst/>
          </a:prstGeom>
          <a:noFill/>
        </p:spPr>
        <p:txBody>
          <a:bodyPr wrap="square" lIns="0" rIns="0">
            <a:spAutoFit/>
          </a:bodyPr>
          <a:lstStyle/>
          <a:p>
            <a:pPr algn="ctr">
              <a:defRPr sz="1100" b="1">
                <a:solidFill>
                  <a:srgbClr val="FFFFFF"/>
                </a:solidFill>
                <a:latin typeface="Aptos"/>
              </a:defRPr>
            </a:pPr>
            <a:r>
              <a:t>04</a:t>
            </a:r>
          </a:p>
        </p:txBody>
      </p:sp>
      <p:sp>
        <p:nvSpPr>
          <p:cNvPr id="41" name="Oval 40"/>
          <p:cNvSpPr/>
          <p:nvPr/>
        </p:nvSpPr>
        <p:spPr>
          <a:xfrm>
            <a:off x="685800" y="4297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252728" y="4279392"/>
            <a:ext cx="2834640" cy="274320"/>
          </a:xfrm>
          <a:prstGeom prst="rect">
            <a:avLst/>
          </a:prstGeom>
          <a:noFill/>
        </p:spPr>
        <p:txBody>
          <a:bodyPr wrap="square" lIns="0" rIns="0">
            <a:spAutoFit/>
          </a:bodyPr>
          <a:lstStyle/>
          <a:p>
            <a:pPr algn="l">
              <a:defRPr sz="1200" b="1">
                <a:solidFill>
                  <a:srgbClr val="123056"/>
                </a:solidFill>
                <a:latin typeface="Aptos"/>
              </a:defRPr>
            </a:pPr>
            <a:r>
              <a:t>Move the card</a:t>
            </a:r>
          </a:p>
        </p:txBody>
      </p:sp>
      <p:sp>
        <p:nvSpPr>
          <p:cNvPr id="43" name="TextBox 42"/>
          <p:cNvSpPr txBox="1"/>
          <p:nvPr/>
        </p:nvSpPr>
        <p:spPr>
          <a:xfrm>
            <a:off x="1252728" y="4608576"/>
            <a:ext cx="2880360" cy="502920"/>
          </a:xfrm>
          <a:prstGeom prst="rect">
            <a:avLst/>
          </a:prstGeom>
          <a:noFill/>
        </p:spPr>
        <p:txBody>
          <a:bodyPr wrap="square" lIns="0" rIns="0">
            <a:spAutoFit/>
          </a:bodyPr>
          <a:lstStyle/>
          <a:p>
            <a:pPr algn="l">
              <a:defRPr sz="1050" b="0">
                <a:solidFill>
                  <a:srgbClr val="28303A"/>
                </a:solidFill>
                <a:latin typeface="Aptos"/>
              </a:defRPr>
            </a:pPr>
            <a:r>
              <a:t>Shift it as work progresses through each stage.</a:t>
            </a:r>
          </a:p>
        </p:txBody>
      </p:sp>
      <p:sp>
        <p:nvSpPr>
          <p:cNvPr id="44" name="TextBox 43"/>
          <p:cNvSpPr txBox="1"/>
          <p:nvPr/>
        </p:nvSpPr>
        <p:spPr>
          <a:xfrm>
            <a:off x="4389120" y="4297680"/>
            <a:ext cx="411480" cy="365760"/>
          </a:xfrm>
          <a:prstGeom prst="rect">
            <a:avLst/>
          </a:prstGeom>
          <a:noFill/>
        </p:spPr>
        <p:txBody>
          <a:bodyPr wrap="square" lIns="0" rIns="0">
            <a:spAutoFit/>
          </a:bodyPr>
          <a:lstStyle/>
          <a:p>
            <a:pPr algn="ctr">
              <a:defRPr sz="1100" b="1">
                <a:solidFill>
                  <a:srgbClr val="FFFFFF"/>
                </a:solidFill>
                <a:latin typeface="Aptos"/>
              </a:defRPr>
            </a:pPr>
            <a:r>
              <a:t>05</a:t>
            </a:r>
          </a:p>
        </p:txBody>
      </p:sp>
      <p:sp>
        <p:nvSpPr>
          <p:cNvPr id="45" name="Oval 44"/>
          <p:cNvSpPr/>
          <p:nvPr/>
        </p:nvSpPr>
        <p:spPr>
          <a:xfrm>
            <a:off x="4389120" y="4297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56048" y="4279392"/>
            <a:ext cx="2834640" cy="274320"/>
          </a:xfrm>
          <a:prstGeom prst="rect">
            <a:avLst/>
          </a:prstGeom>
          <a:noFill/>
        </p:spPr>
        <p:txBody>
          <a:bodyPr wrap="square" lIns="0" rIns="0">
            <a:spAutoFit/>
          </a:bodyPr>
          <a:lstStyle/>
          <a:p>
            <a:pPr algn="l">
              <a:defRPr sz="1200" b="1">
                <a:solidFill>
                  <a:srgbClr val="123056"/>
                </a:solidFill>
                <a:latin typeface="Aptos"/>
              </a:defRPr>
            </a:pPr>
            <a:r>
              <a:t>Validate</a:t>
            </a:r>
          </a:p>
        </p:txBody>
      </p:sp>
      <p:sp>
        <p:nvSpPr>
          <p:cNvPr id="47" name="TextBox 46"/>
          <p:cNvSpPr txBox="1"/>
          <p:nvPr/>
        </p:nvSpPr>
        <p:spPr>
          <a:xfrm>
            <a:off x="4956048" y="4608576"/>
            <a:ext cx="2880360" cy="502920"/>
          </a:xfrm>
          <a:prstGeom prst="rect">
            <a:avLst/>
          </a:prstGeom>
          <a:noFill/>
        </p:spPr>
        <p:txBody>
          <a:bodyPr wrap="square" lIns="0" rIns="0">
            <a:spAutoFit/>
          </a:bodyPr>
          <a:lstStyle/>
          <a:p>
            <a:pPr algn="l">
              <a:defRPr sz="1050" b="0">
                <a:solidFill>
                  <a:srgbClr val="28303A"/>
                </a:solidFill>
                <a:latin typeface="Aptos"/>
              </a:defRPr>
            </a:pPr>
            <a:r>
              <a:t>Use review/testing gates before shipping.</a:t>
            </a:r>
          </a:p>
        </p:txBody>
      </p:sp>
      <p:sp>
        <p:nvSpPr>
          <p:cNvPr id="48" name="TextBox 47"/>
          <p:cNvSpPr txBox="1"/>
          <p:nvPr/>
        </p:nvSpPr>
        <p:spPr>
          <a:xfrm>
            <a:off x="8092440" y="4297680"/>
            <a:ext cx="411480" cy="365760"/>
          </a:xfrm>
          <a:prstGeom prst="rect">
            <a:avLst/>
          </a:prstGeom>
          <a:noFill/>
        </p:spPr>
        <p:txBody>
          <a:bodyPr wrap="square" lIns="0" rIns="0">
            <a:spAutoFit/>
          </a:bodyPr>
          <a:lstStyle/>
          <a:p>
            <a:pPr algn="ctr">
              <a:defRPr sz="1100" b="1">
                <a:solidFill>
                  <a:srgbClr val="FFFFFF"/>
                </a:solidFill>
                <a:latin typeface="Aptos"/>
              </a:defRPr>
            </a:pPr>
            <a:r>
              <a:t>06</a:t>
            </a:r>
          </a:p>
        </p:txBody>
      </p:sp>
      <p:sp>
        <p:nvSpPr>
          <p:cNvPr id="49" name="Oval 48"/>
          <p:cNvSpPr/>
          <p:nvPr/>
        </p:nvSpPr>
        <p:spPr>
          <a:xfrm>
            <a:off x="8092440" y="4297680"/>
            <a:ext cx="411480" cy="411480"/>
          </a:xfrm>
          <a:prstGeom prst="ellipse">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659367" y="4279392"/>
            <a:ext cx="2834640" cy="274320"/>
          </a:xfrm>
          <a:prstGeom prst="rect">
            <a:avLst/>
          </a:prstGeom>
          <a:noFill/>
        </p:spPr>
        <p:txBody>
          <a:bodyPr wrap="square" lIns="0" rIns="0">
            <a:spAutoFit/>
          </a:bodyPr>
          <a:lstStyle/>
          <a:p>
            <a:pPr algn="l">
              <a:defRPr sz="1200" b="1">
                <a:solidFill>
                  <a:srgbClr val="123056"/>
                </a:solidFill>
                <a:latin typeface="Aptos"/>
              </a:defRPr>
            </a:pPr>
            <a:r>
              <a:t>Complete</a:t>
            </a:r>
          </a:p>
        </p:txBody>
      </p:sp>
      <p:sp>
        <p:nvSpPr>
          <p:cNvPr id="51" name="TextBox 50"/>
          <p:cNvSpPr txBox="1"/>
          <p:nvPr/>
        </p:nvSpPr>
        <p:spPr>
          <a:xfrm>
            <a:off x="8659367" y="4608576"/>
            <a:ext cx="2880360" cy="502920"/>
          </a:xfrm>
          <a:prstGeom prst="rect">
            <a:avLst/>
          </a:prstGeom>
          <a:noFill/>
        </p:spPr>
        <p:txBody>
          <a:bodyPr wrap="square" lIns="0" rIns="0">
            <a:spAutoFit/>
          </a:bodyPr>
          <a:lstStyle/>
          <a:p>
            <a:pPr algn="l">
              <a:defRPr sz="1050" b="0">
                <a:solidFill>
                  <a:srgbClr val="28303A"/>
                </a:solidFill>
                <a:latin typeface="Aptos"/>
              </a:defRPr>
            </a:pPr>
            <a:r>
              <a:t>Move to Done after successful delivery.</a:t>
            </a:r>
          </a:p>
        </p:txBody>
      </p:sp>
      <p:sp>
        <p:nvSpPr>
          <p:cNvPr id="52" name="TextBox 51"/>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3. DevOps Use Cases</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USE CASES</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234440"/>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234440"/>
            <a:ext cx="64008" cy="132588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99032"/>
            <a:ext cx="4800600" cy="320040"/>
          </a:xfrm>
          <a:prstGeom prst="rect">
            <a:avLst/>
          </a:prstGeom>
          <a:noFill/>
        </p:spPr>
        <p:txBody>
          <a:bodyPr wrap="square" lIns="0" rIns="0">
            <a:spAutoFit/>
          </a:bodyPr>
          <a:lstStyle/>
          <a:p>
            <a:pPr algn="l">
              <a:defRPr sz="1400" b="1">
                <a:solidFill>
                  <a:srgbClr val="123056"/>
                </a:solidFill>
                <a:latin typeface="Aptos"/>
              </a:defRPr>
            </a:pPr>
            <a:r>
              <a:t>Agile Sprint &amp; Backlog</a:t>
            </a:r>
          </a:p>
        </p:txBody>
      </p:sp>
      <p:sp>
        <p:nvSpPr>
          <p:cNvPr id="10" name="TextBox 9"/>
          <p:cNvSpPr txBox="1"/>
          <p:nvPr/>
        </p:nvSpPr>
        <p:spPr>
          <a:xfrm>
            <a:off x="841247" y="1801368"/>
            <a:ext cx="4800600" cy="667512"/>
          </a:xfrm>
          <a:prstGeom prst="rect">
            <a:avLst/>
          </a:prstGeom>
          <a:noFill/>
        </p:spPr>
        <p:txBody>
          <a:bodyPr wrap="square" lIns="0" rIns="0">
            <a:spAutoFit/>
          </a:bodyPr>
          <a:lstStyle/>
          <a:p>
            <a:pPr algn="l">
              <a:defRPr sz="1150" b="0">
                <a:solidFill>
                  <a:srgbClr val="28303A"/>
                </a:solidFill>
                <a:latin typeface="Aptos"/>
              </a:defRPr>
            </a:pPr>
            <a:r>
              <a:t>Backlog → Sprint Backlog → WIP → Code Review → Completed. Use DoR/DoD checklists.</a:t>
            </a:r>
          </a:p>
        </p:txBody>
      </p:sp>
      <p:sp>
        <p:nvSpPr>
          <p:cNvPr id="11" name="Rounded Rectangle 10"/>
          <p:cNvSpPr/>
          <p:nvPr/>
        </p:nvSpPr>
        <p:spPr>
          <a:xfrm>
            <a:off x="6172200" y="1234440"/>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234440"/>
            <a:ext cx="64008" cy="1325880"/>
          </a:xfrm>
          <a:prstGeom prst="rect">
            <a:avLst/>
          </a:prstGeom>
          <a:solidFill>
            <a:srgbClr val="CC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399032"/>
            <a:ext cx="4800600" cy="320040"/>
          </a:xfrm>
          <a:prstGeom prst="rect">
            <a:avLst/>
          </a:prstGeom>
          <a:noFill/>
        </p:spPr>
        <p:txBody>
          <a:bodyPr wrap="square" lIns="0" rIns="0">
            <a:spAutoFit/>
          </a:bodyPr>
          <a:lstStyle/>
          <a:p>
            <a:pPr algn="l">
              <a:defRPr sz="1400" b="1">
                <a:solidFill>
                  <a:srgbClr val="123056"/>
                </a:solidFill>
                <a:latin typeface="Aptos"/>
              </a:defRPr>
            </a:pPr>
            <a:r>
              <a:t>Bug Monitoring &amp; Triage</a:t>
            </a:r>
          </a:p>
        </p:txBody>
      </p:sp>
      <p:sp>
        <p:nvSpPr>
          <p:cNvPr id="14" name="TextBox 13"/>
          <p:cNvSpPr txBox="1"/>
          <p:nvPr/>
        </p:nvSpPr>
        <p:spPr>
          <a:xfrm>
            <a:off x="6373368" y="1801368"/>
            <a:ext cx="4800600" cy="667512"/>
          </a:xfrm>
          <a:prstGeom prst="rect">
            <a:avLst/>
          </a:prstGeom>
          <a:noFill/>
        </p:spPr>
        <p:txBody>
          <a:bodyPr wrap="square" lIns="0" rIns="0">
            <a:spAutoFit/>
          </a:bodyPr>
          <a:lstStyle/>
          <a:p>
            <a:pPr algn="l">
              <a:defRPr sz="1150" b="0">
                <a:solidFill>
                  <a:srgbClr val="28303A"/>
                </a:solidFill>
                <a:latin typeface="Aptos"/>
              </a:defRPr>
            </a:pPr>
            <a:r>
              <a:t>Reported → Planned → In Progress → Confirm Fix → Done / Won't Fix. Severity drives priority.</a:t>
            </a:r>
          </a:p>
        </p:txBody>
      </p:sp>
      <p:sp>
        <p:nvSpPr>
          <p:cNvPr id="15" name="Rounded Rectangle 14"/>
          <p:cNvSpPr/>
          <p:nvPr/>
        </p:nvSpPr>
        <p:spPr>
          <a:xfrm>
            <a:off x="640080" y="2807208"/>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807208"/>
            <a:ext cx="64008" cy="1325880"/>
          </a:xfrm>
          <a:prstGeom prst="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971800"/>
            <a:ext cx="4800600" cy="320040"/>
          </a:xfrm>
          <a:prstGeom prst="rect">
            <a:avLst/>
          </a:prstGeom>
          <a:noFill/>
        </p:spPr>
        <p:txBody>
          <a:bodyPr wrap="square" lIns="0" rIns="0">
            <a:spAutoFit/>
          </a:bodyPr>
          <a:lstStyle/>
          <a:p>
            <a:pPr algn="l">
              <a:defRPr sz="1400" b="1">
                <a:solidFill>
                  <a:srgbClr val="123056"/>
                </a:solidFill>
                <a:latin typeface="Aptos"/>
              </a:defRPr>
            </a:pPr>
            <a:r>
              <a:t>Continuous Delivery</a:t>
            </a:r>
          </a:p>
        </p:txBody>
      </p:sp>
      <p:sp>
        <p:nvSpPr>
          <p:cNvPr id="18" name="TextBox 17"/>
          <p:cNvSpPr txBox="1"/>
          <p:nvPr/>
        </p:nvSpPr>
        <p:spPr>
          <a:xfrm>
            <a:off x="841247" y="3374136"/>
            <a:ext cx="4800600" cy="667512"/>
          </a:xfrm>
          <a:prstGeom prst="rect">
            <a:avLst/>
          </a:prstGeom>
          <a:noFill/>
        </p:spPr>
        <p:txBody>
          <a:bodyPr wrap="square" lIns="0" rIns="0">
            <a:spAutoFit/>
          </a:bodyPr>
          <a:lstStyle/>
          <a:p>
            <a:pPr algn="l">
              <a:defRPr sz="1150" b="0">
                <a:solidFill>
                  <a:srgbClr val="28303A"/>
                </a:solidFill>
                <a:latin typeface="Aptos"/>
              </a:defRPr>
            </a:pPr>
            <a:r>
              <a:t>Backlog → Design → To-Do → Doing → Code Review → Testing → Shipped.</a:t>
            </a:r>
          </a:p>
        </p:txBody>
      </p:sp>
      <p:sp>
        <p:nvSpPr>
          <p:cNvPr id="19" name="Rounded Rectangle 18"/>
          <p:cNvSpPr/>
          <p:nvPr/>
        </p:nvSpPr>
        <p:spPr>
          <a:xfrm>
            <a:off x="6172200" y="2807208"/>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807208"/>
            <a:ext cx="64008" cy="1325880"/>
          </a:xfrm>
          <a:prstGeom prst="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2971800"/>
            <a:ext cx="4800600" cy="320040"/>
          </a:xfrm>
          <a:prstGeom prst="rect">
            <a:avLst/>
          </a:prstGeom>
          <a:noFill/>
        </p:spPr>
        <p:txBody>
          <a:bodyPr wrap="square" lIns="0" rIns="0">
            <a:spAutoFit/>
          </a:bodyPr>
          <a:lstStyle/>
          <a:p>
            <a:pPr algn="l">
              <a:defRPr sz="1400" b="1">
                <a:solidFill>
                  <a:srgbClr val="123056"/>
                </a:solidFill>
                <a:latin typeface="Aptos"/>
              </a:defRPr>
            </a:pPr>
            <a:r>
              <a:t>SRE &amp; Maintenance</a:t>
            </a:r>
          </a:p>
        </p:txBody>
      </p:sp>
      <p:sp>
        <p:nvSpPr>
          <p:cNvPr id="22" name="TextBox 21"/>
          <p:cNvSpPr txBox="1"/>
          <p:nvPr/>
        </p:nvSpPr>
        <p:spPr>
          <a:xfrm>
            <a:off x="6373368" y="3374136"/>
            <a:ext cx="4800600" cy="667512"/>
          </a:xfrm>
          <a:prstGeom prst="rect">
            <a:avLst/>
          </a:prstGeom>
          <a:noFill/>
        </p:spPr>
        <p:txBody>
          <a:bodyPr wrap="square" lIns="0" rIns="0">
            <a:spAutoFit/>
          </a:bodyPr>
          <a:lstStyle/>
          <a:p>
            <a:pPr algn="l">
              <a:defRPr sz="1150" b="0">
                <a:solidFill>
                  <a:srgbClr val="28303A"/>
                </a:solidFill>
                <a:latin typeface="Aptos"/>
              </a:defRPr>
            </a:pPr>
            <a:r>
              <a:t>Requests → Next Up → Doing → In Review → Staging → Production. Track recurring infrastructure work.</a:t>
            </a:r>
          </a:p>
        </p:txBody>
      </p:sp>
      <p:sp>
        <p:nvSpPr>
          <p:cNvPr id="23" name="Rounded Rectangle 22"/>
          <p:cNvSpPr/>
          <p:nvPr/>
        </p:nvSpPr>
        <p:spPr>
          <a:xfrm>
            <a:off x="640080" y="4379976"/>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379976"/>
            <a:ext cx="64008" cy="1325880"/>
          </a:xfrm>
          <a:prstGeom prst="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4544568"/>
            <a:ext cx="4800600" cy="320040"/>
          </a:xfrm>
          <a:prstGeom prst="rect">
            <a:avLst/>
          </a:prstGeom>
          <a:noFill/>
        </p:spPr>
        <p:txBody>
          <a:bodyPr wrap="square" lIns="0" rIns="0">
            <a:spAutoFit/>
          </a:bodyPr>
          <a:lstStyle/>
          <a:p>
            <a:pPr algn="l">
              <a:defRPr sz="1400" b="1">
                <a:solidFill>
                  <a:srgbClr val="123056"/>
                </a:solidFill>
                <a:latin typeface="Aptos"/>
              </a:defRPr>
            </a:pPr>
            <a:r>
              <a:t>GitHub / Pull Requests</a:t>
            </a:r>
          </a:p>
        </p:txBody>
      </p:sp>
      <p:sp>
        <p:nvSpPr>
          <p:cNvPr id="26" name="TextBox 25"/>
          <p:cNvSpPr txBox="1"/>
          <p:nvPr/>
        </p:nvSpPr>
        <p:spPr>
          <a:xfrm>
            <a:off x="841247" y="4946904"/>
            <a:ext cx="4800600" cy="667512"/>
          </a:xfrm>
          <a:prstGeom prst="rect">
            <a:avLst/>
          </a:prstGeom>
          <a:noFill/>
        </p:spPr>
        <p:txBody>
          <a:bodyPr wrap="square" lIns="0" rIns="0">
            <a:spAutoFit/>
          </a:bodyPr>
          <a:lstStyle/>
          <a:p>
            <a:pPr algn="l">
              <a:defRPr sz="1150" b="0">
                <a:solidFill>
                  <a:srgbClr val="28303A"/>
                </a:solidFill>
                <a:latin typeface="Aptos"/>
              </a:defRPr>
            </a:pPr>
            <a:r>
              <a:t>Attach commits, branches, issues and PRs to cards using integration features.</a:t>
            </a:r>
          </a:p>
        </p:txBody>
      </p:sp>
      <p:sp>
        <p:nvSpPr>
          <p:cNvPr id="27" name="Rounded Rectangle 26"/>
          <p:cNvSpPr/>
          <p:nvPr/>
        </p:nvSpPr>
        <p:spPr>
          <a:xfrm>
            <a:off x="6172200" y="4379976"/>
            <a:ext cx="5166360" cy="132588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4379976"/>
            <a:ext cx="64008" cy="1325880"/>
          </a:xfrm>
          <a:prstGeom prst="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3368" y="4544568"/>
            <a:ext cx="4800600" cy="320040"/>
          </a:xfrm>
          <a:prstGeom prst="rect">
            <a:avLst/>
          </a:prstGeom>
          <a:noFill/>
        </p:spPr>
        <p:txBody>
          <a:bodyPr wrap="square" lIns="0" rIns="0">
            <a:spAutoFit/>
          </a:bodyPr>
          <a:lstStyle/>
          <a:p>
            <a:pPr algn="l">
              <a:defRPr sz="1400" b="1">
                <a:solidFill>
                  <a:srgbClr val="123056"/>
                </a:solidFill>
                <a:latin typeface="Aptos"/>
              </a:defRPr>
            </a:pPr>
            <a:r>
              <a:t>Async Retrospectives</a:t>
            </a:r>
          </a:p>
        </p:txBody>
      </p:sp>
      <p:sp>
        <p:nvSpPr>
          <p:cNvPr id="30" name="TextBox 29"/>
          <p:cNvSpPr txBox="1"/>
          <p:nvPr/>
        </p:nvSpPr>
        <p:spPr>
          <a:xfrm>
            <a:off x="6373368" y="4946904"/>
            <a:ext cx="4800600" cy="667512"/>
          </a:xfrm>
          <a:prstGeom prst="rect">
            <a:avLst/>
          </a:prstGeom>
          <a:noFill/>
        </p:spPr>
        <p:txBody>
          <a:bodyPr wrap="square" lIns="0" rIns="0">
            <a:spAutoFit/>
          </a:bodyPr>
          <a:lstStyle/>
          <a:p>
            <a:pPr algn="l">
              <a:defRPr sz="1150" b="0">
                <a:solidFill>
                  <a:srgbClr val="28303A"/>
                </a:solidFill>
                <a:latin typeface="Aptos"/>
              </a:defRPr>
            </a:pPr>
            <a:r>
              <a:t>Went Well → Needs to Change → Questions &amp; Discussion → Action Items for distributed teams.</a:t>
            </a:r>
          </a:p>
        </p:txBody>
      </p:sp>
      <p:sp>
        <p:nvSpPr>
          <p:cNvPr id="31" name="TextBox 30"/>
          <p:cNvSpPr txBox="1"/>
          <p:nvPr/>
        </p:nvSpPr>
        <p:spPr>
          <a:xfrm>
            <a:off x="685800" y="6080760"/>
            <a:ext cx="10789920" cy="256032"/>
          </a:xfrm>
          <a:prstGeom prst="rect">
            <a:avLst/>
          </a:prstGeom>
          <a:noFill/>
        </p:spPr>
        <p:txBody>
          <a:bodyPr wrap="square" lIns="0" rIns="0">
            <a:spAutoFit/>
          </a:bodyPr>
          <a:lstStyle/>
          <a:p>
            <a:pPr algn="ctr">
              <a:defRPr sz="1050" b="0">
                <a:solidFill>
                  <a:srgbClr val="66707C"/>
                </a:solidFill>
                <a:latin typeface="Aptos"/>
              </a:defRPr>
            </a:pPr>
            <a:r>
              <a:t>The supplied guide highlights six recurring engineering patterns where a tailored Trello board provides end-to-end visibility.</a:t>
            </a:r>
          </a:p>
        </p:txBody>
      </p:sp>
      <p:sp>
        <p:nvSpPr>
          <p:cNvPr id="32" name="TextBox 31"/>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4. Automation, GitOps &amp; Integrations</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AUTOMATION</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15568"/>
            <a:ext cx="10972800" cy="347472"/>
          </a:xfrm>
          <a:prstGeom prst="rect">
            <a:avLst/>
          </a:prstGeom>
          <a:noFill/>
        </p:spPr>
        <p:txBody>
          <a:bodyPr wrap="square" lIns="0" rIns="0">
            <a:spAutoFit/>
          </a:bodyPr>
          <a:lstStyle/>
          <a:p>
            <a:pPr algn="l">
              <a:defRPr sz="1500" b="0">
                <a:solidFill>
                  <a:srgbClr val="28303A"/>
                </a:solidFill>
                <a:latin typeface="Aptos"/>
              </a:defRPr>
            </a:pPr>
            <a:r>
              <a:t>Butler reduces manual board work; APIs and integrations connect Trello to engineering systems.</a:t>
            </a:r>
          </a:p>
        </p:txBody>
      </p:sp>
      <p:sp>
        <p:nvSpPr>
          <p:cNvPr id="8" name="Rounded Rectangle 7"/>
          <p:cNvSpPr/>
          <p:nvPr/>
        </p:nvSpPr>
        <p:spPr>
          <a:xfrm>
            <a:off x="640080" y="1691640"/>
            <a:ext cx="525780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64008" cy="114300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92040" cy="320040"/>
          </a:xfrm>
          <a:prstGeom prst="rect">
            <a:avLst/>
          </a:prstGeom>
          <a:noFill/>
        </p:spPr>
        <p:txBody>
          <a:bodyPr wrap="square" lIns="0" rIns="0">
            <a:spAutoFit/>
          </a:bodyPr>
          <a:lstStyle/>
          <a:p>
            <a:pPr algn="l">
              <a:defRPr sz="1400" b="1">
                <a:solidFill>
                  <a:srgbClr val="123056"/>
                </a:solidFill>
                <a:latin typeface="Aptos"/>
              </a:defRPr>
            </a:pPr>
            <a:r>
              <a:t>Card Rules</a:t>
            </a:r>
          </a:p>
        </p:txBody>
      </p:sp>
      <p:sp>
        <p:nvSpPr>
          <p:cNvPr id="11" name="TextBox 10"/>
          <p:cNvSpPr txBox="1"/>
          <p:nvPr/>
        </p:nvSpPr>
        <p:spPr>
          <a:xfrm>
            <a:off x="841247" y="2258568"/>
            <a:ext cx="4892040" cy="484632"/>
          </a:xfrm>
          <a:prstGeom prst="rect">
            <a:avLst/>
          </a:prstGeom>
          <a:noFill/>
        </p:spPr>
        <p:txBody>
          <a:bodyPr wrap="square" lIns="0" rIns="0">
            <a:spAutoFit/>
          </a:bodyPr>
          <a:lstStyle/>
          <a:p>
            <a:pPr algn="l">
              <a:defRPr sz="1150" b="0">
                <a:solidFill>
                  <a:srgbClr val="28303A"/>
                </a:solidFill>
                <a:latin typeface="Aptos"/>
              </a:defRPr>
            </a:pPr>
            <a:r>
              <a:t>Event-driven automation: when a card reaches Code Review, add a reviewer and set a due date.</a:t>
            </a:r>
          </a:p>
        </p:txBody>
      </p:sp>
      <p:sp>
        <p:nvSpPr>
          <p:cNvPr id="12" name="Rounded Rectangle 11"/>
          <p:cNvSpPr/>
          <p:nvPr/>
        </p:nvSpPr>
        <p:spPr>
          <a:xfrm>
            <a:off x="640080" y="3017520"/>
            <a:ext cx="525780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017520"/>
            <a:ext cx="64008" cy="1143000"/>
          </a:xfrm>
          <a:prstGeom prst="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4892040" cy="320040"/>
          </a:xfrm>
          <a:prstGeom prst="rect">
            <a:avLst/>
          </a:prstGeom>
          <a:noFill/>
        </p:spPr>
        <p:txBody>
          <a:bodyPr wrap="square" lIns="0" rIns="0">
            <a:spAutoFit/>
          </a:bodyPr>
          <a:lstStyle/>
          <a:p>
            <a:pPr algn="l">
              <a:defRPr sz="1400" b="1">
                <a:solidFill>
                  <a:srgbClr val="123056"/>
                </a:solidFill>
                <a:latin typeface="Aptos"/>
              </a:defRPr>
            </a:pPr>
            <a:r>
              <a:t>Board &amp; Card Buttons</a:t>
            </a:r>
          </a:p>
        </p:txBody>
      </p:sp>
      <p:sp>
        <p:nvSpPr>
          <p:cNvPr id="15" name="TextBox 14"/>
          <p:cNvSpPr txBox="1"/>
          <p:nvPr/>
        </p:nvSpPr>
        <p:spPr>
          <a:xfrm>
            <a:off x="841247" y="3584448"/>
            <a:ext cx="4892040" cy="484632"/>
          </a:xfrm>
          <a:prstGeom prst="rect">
            <a:avLst/>
          </a:prstGeom>
          <a:noFill/>
        </p:spPr>
        <p:txBody>
          <a:bodyPr wrap="square" lIns="0" rIns="0">
            <a:spAutoFit/>
          </a:bodyPr>
          <a:lstStyle/>
          <a:p>
            <a:pPr algn="l">
              <a:defRPr sz="1150" b="0">
                <a:solidFill>
                  <a:srgbClr val="28303A"/>
                </a:solidFill>
                <a:latin typeface="Aptos"/>
              </a:defRPr>
            </a:pPr>
            <a:r>
              <a:t>Batch actions such as starting a sprint, moving cards, setting due dates and sorting WIP.</a:t>
            </a:r>
          </a:p>
        </p:txBody>
      </p:sp>
      <p:sp>
        <p:nvSpPr>
          <p:cNvPr id="16" name="Rounded Rectangle 15"/>
          <p:cNvSpPr/>
          <p:nvPr/>
        </p:nvSpPr>
        <p:spPr>
          <a:xfrm>
            <a:off x="640080" y="4343400"/>
            <a:ext cx="525780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4343400"/>
            <a:ext cx="64008" cy="1143000"/>
          </a:xfrm>
          <a:prstGeom prst="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4507992"/>
            <a:ext cx="4892040" cy="320040"/>
          </a:xfrm>
          <a:prstGeom prst="rect">
            <a:avLst/>
          </a:prstGeom>
          <a:noFill/>
        </p:spPr>
        <p:txBody>
          <a:bodyPr wrap="square" lIns="0" rIns="0">
            <a:spAutoFit/>
          </a:bodyPr>
          <a:lstStyle/>
          <a:p>
            <a:pPr algn="l">
              <a:defRPr sz="1400" b="1">
                <a:solidFill>
                  <a:srgbClr val="123056"/>
                </a:solidFill>
                <a:latin typeface="Aptos"/>
              </a:defRPr>
            </a:pPr>
            <a:r>
              <a:t>Scheduled / Due-Date Commands</a:t>
            </a:r>
          </a:p>
        </p:txBody>
      </p:sp>
      <p:sp>
        <p:nvSpPr>
          <p:cNvPr id="19" name="TextBox 18"/>
          <p:cNvSpPr txBox="1"/>
          <p:nvPr/>
        </p:nvSpPr>
        <p:spPr>
          <a:xfrm>
            <a:off x="841247" y="4910328"/>
            <a:ext cx="4892040" cy="484632"/>
          </a:xfrm>
          <a:prstGeom prst="rect">
            <a:avLst/>
          </a:prstGeom>
          <a:noFill/>
        </p:spPr>
        <p:txBody>
          <a:bodyPr wrap="square" lIns="0" rIns="0">
            <a:spAutoFit/>
          </a:bodyPr>
          <a:lstStyle/>
          <a:p>
            <a:pPr algn="l">
              <a:defRPr sz="1150" b="0">
                <a:solidFill>
                  <a:srgbClr val="28303A"/>
                </a:solidFill>
                <a:latin typeface="Aptos"/>
              </a:defRPr>
            </a:pPr>
            <a:r>
              <a:t>Run recurring maintenance or escalate overdue cards with labels and notifications.</a:t>
            </a:r>
          </a:p>
        </p:txBody>
      </p:sp>
      <p:sp>
        <p:nvSpPr>
          <p:cNvPr id="20" name="Rounded Rectangle 19"/>
          <p:cNvSpPr/>
          <p:nvPr/>
        </p:nvSpPr>
        <p:spPr>
          <a:xfrm>
            <a:off x="6172200" y="1691640"/>
            <a:ext cx="534924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1691640"/>
            <a:ext cx="64008" cy="1143000"/>
          </a:xfrm>
          <a:prstGeom prst="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3368" y="1856232"/>
            <a:ext cx="4983479" cy="320040"/>
          </a:xfrm>
          <a:prstGeom prst="rect">
            <a:avLst/>
          </a:prstGeom>
          <a:noFill/>
        </p:spPr>
        <p:txBody>
          <a:bodyPr wrap="square" lIns="0" rIns="0">
            <a:spAutoFit/>
          </a:bodyPr>
          <a:lstStyle/>
          <a:p>
            <a:pPr algn="l">
              <a:defRPr sz="1400" b="1">
                <a:solidFill>
                  <a:srgbClr val="123056"/>
                </a:solidFill>
                <a:latin typeface="Aptos"/>
              </a:defRPr>
            </a:pPr>
            <a:r>
              <a:t>GitOps</a:t>
            </a:r>
          </a:p>
        </p:txBody>
      </p:sp>
      <p:sp>
        <p:nvSpPr>
          <p:cNvPr id="23" name="TextBox 22"/>
          <p:cNvSpPr txBox="1"/>
          <p:nvPr/>
        </p:nvSpPr>
        <p:spPr>
          <a:xfrm>
            <a:off x="6373368" y="2258568"/>
            <a:ext cx="4983479" cy="484632"/>
          </a:xfrm>
          <a:prstGeom prst="rect">
            <a:avLst/>
          </a:prstGeom>
          <a:noFill/>
        </p:spPr>
        <p:txBody>
          <a:bodyPr wrap="square" lIns="0" rIns="0">
            <a:spAutoFit/>
          </a:bodyPr>
          <a:lstStyle/>
          <a:p>
            <a:pPr algn="l">
              <a:defRPr sz="1150" b="0">
                <a:solidFill>
                  <a:srgbClr val="28303A"/>
                </a:solidFill>
                <a:latin typeface="Aptos"/>
              </a:defRPr>
            </a:pPr>
            <a:r>
              <a:t>The guide describes declaring board structures in version-controlled YAML and syncing them through CI/CD.</a:t>
            </a:r>
          </a:p>
        </p:txBody>
      </p:sp>
      <p:sp>
        <p:nvSpPr>
          <p:cNvPr id="24" name="Rounded Rectangle 23"/>
          <p:cNvSpPr/>
          <p:nvPr/>
        </p:nvSpPr>
        <p:spPr>
          <a:xfrm>
            <a:off x="6172200" y="3017520"/>
            <a:ext cx="534924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3017520"/>
            <a:ext cx="64008" cy="1143000"/>
          </a:xfrm>
          <a:prstGeom prst="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3182112"/>
            <a:ext cx="4983479" cy="320040"/>
          </a:xfrm>
          <a:prstGeom prst="rect">
            <a:avLst/>
          </a:prstGeom>
          <a:noFill/>
        </p:spPr>
        <p:txBody>
          <a:bodyPr wrap="square" lIns="0" rIns="0">
            <a:spAutoFit/>
          </a:bodyPr>
          <a:lstStyle/>
          <a:p>
            <a:pPr algn="l">
              <a:defRPr sz="1400" b="1">
                <a:solidFill>
                  <a:srgbClr val="123056"/>
                </a:solidFill>
                <a:latin typeface="Aptos"/>
              </a:defRPr>
            </a:pPr>
            <a:r>
              <a:t>REST API &amp; Webhooks</a:t>
            </a:r>
          </a:p>
        </p:txBody>
      </p:sp>
      <p:sp>
        <p:nvSpPr>
          <p:cNvPr id="27" name="TextBox 26"/>
          <p:cNvSpPr txBox="1"/>
          <p:nvPr/>
        </p:nvSpPr>
        <p:spPr>
          <a:xfrm>
            <a:off x="6373368" y="3584448"/>
            <a:ext cx="4983479" cy="484632"/>
          </a:xfrm>
          <a:prstGeom prst="rect">
            <a:avLst/>
          </a:prstGeom>
          <a:noFill/>
        </p:spPr>
        <p:txBody>
          <a:bodyPr wrap="square" lIns="0" rIns="0">
            <a:spAutoFit/>
          </a:bodyPr>
          <a:lstStyle/>
          <a:p>
            <a:pPr algn="l">
              <a:defRPr sz="1150" b="0">
                <a:solidFill>
                  <a:srgbClr val="28303A"/>
                </a:solidFill>
                <a:latin typeface="Aptos"/>
              </a:defRPr>
            </a:pPr>
            <a:r>
              <a:t>Programmatic management of boards, lists, cards and webhooks for scripted workflows.</a:t>
            </a:r>
          </a:p>
        </p:txBody>
      </p:sp>
      <p:sp>
        <p:nvSpPr>
          <p:cNvPr id="28" name="Rounded Rectangle 27"/>
          <p:cNvSpPr/>
          <p:nvPr/>
        </p:nvSpPr>
        <p:spPr>
          <a:xfrm>
            <a:off x="6172200" y="4343400"/>
            <a:ext cx="5349240" cy="114300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72200" y="4343400"/>
            <a:ext cx="64008" cy="114300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73368" y="4507992"/>
            <a:ext cx="4983479" cy="320040"/>
          </a:xfrm>
          <a:prstGeom prst="rect">
            <a:avLst/>
          </a:prstGeom>
          <a:noFill/>
        </p:spPr>
        <p:txBody>
          <a:bodyPr wrap="square" lIns="0" rIns="0">
            <a:spAutoFit/>
          </a:bodyPr>
          <a:lstStyle/>
          <a:p>
            <a:pPr algn="l">
              <a:defRPr sz="1400" b="1">
                <a:solidFill>
                  <a:srgbClr val="123056"/>
                </a:solidFill>
                <a:latin typeface="Aptos"/>
              </a:defRPr>
            </a:pPr>
            <a:r>
              <a:t>Toolchain Ecosystem</a:t>
            </a:r>
          </a:p>
        </p:txBody>
      </p:sp>
      <p:sp>
        <p:nvSpPr>
          <p:cNvPr id="31" name="TextBox 30"/>
          <p:cNvSpPr txBox="1"/>
          <p:nvPr/>
        </p:nvSpPr>
        <p:spPr>
          <a:xfrm>
            <a:off x="6373368" y="4910328"/>
            <a:ext cx="4983479" cy="484632"/>
          </a:xfrm>
          <a:prstGeom prst="rect">
            <a:avLst/>
          </a:prstGeom>
          <a:noFill/>
        </p:spPr>
        <p:txBody>
          <a:bodyPr wrap="square" lIns="0" rIns="0">
            <a:spAutoFit/>
          </a:bodyPr>
          <a:lstStyle/>
          <a:p>
            <a:pPr algn="l">
              <a:defRPr sz="1150" b="0">
                <a:solidFill>
                  <a:srgbClr val="28303A"/>
                </a:solidFill>
                <a:latin typeface="Aptos"/>
              </a:defRPr>
            </a:pPr>
            <a:r>
              <a:t>GitHub synchronization and external automation platforms can connect Trello with development and communication tools.</a:t>
            </a:r>
          </a:p>
        </p:txBody>
      </p:sp>
      <p:sp>
        <p:nvSpPr>
          <p:cNvPr id="32" name="TextBox 31"/>
          <p:cNvSpPr txBox="1"/>
          <p:nvPr/>
        </p:nvSpPr>
        <p:spPr>
          <a:xfrm>
            <a:off x="685800" y="5806440"/>
            <a:ext cx="10698480" cy="411480"/>
          </a:xfrm>
          <a:prstGeom prst="rect">
            <a:avLst/>
          </a:prstGeom>
          <a:noFill/>
        </p:spPr>
        <p:txBody>
          <a:bodyPr wrap="square" lIns="0" rIns="0">
            <a:spAutoFit/>
          </a:bodyPr>
          <a:lstStyle/>
          <a:p>
            <a:pPr algn="ctr">
              <a:defRPr sz="1150" b="1">
                <a:solidFill>
                  <a:srgbClr val="CC5050"/>
                </a:solidFill>
                <a:latin typeface="Aptos"/>
              </a:defRPr>
            </a:pPr>
            <a:r>
              <a:t>Key distinction: Trello tracks and orchestrates work; CI/CD systems perform the actual build, test and deployment automation.</a:t>
            </a:r>
          </a:p>
        </p:txBody>
      </p:sp>
      <p:sp>
        <p:nvSpPr>
          <p:cNvPr id="33" name="TextBox 32"/>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5. Zero Trust in the Kanban Workflow</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DEVSECOPS</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43000"/>
            <a:ext cx="10972800" cy="594360"/>
          </a:xfrm>
          <a:prstGeom prst="rect">
            <a:avLst/>
          </a:prstGeom>
          <a:noFill/>
        </p:spPr>
        <p:txBody>
          <a:bodyPr wrap="square" lIns="0" rIns="0">
            <a:spAutoFit/>
          </a:bodyPr>
          <a:lstStyle/>
          <a:p>
            <a:pPr algn="l">
              <a:defRPr sz="1400" b="0">
                <a:solidFill>
                  <a:srgbClr val="28303A"/>
                </a:solidFill>
                <a:latin typeface="Aptos"/>
              </a:defRPr>
            </a:pPr>
            <a:r>
              <a:t>The reference guide maps “never trust, always verify” controls to Kanban stages so security checks become workflow gates.</a:t>
            </a:r>
          </a:p>
        </p:txBody>
      </p:sp>
      <p:sp>
        <p:nvSpPr>
          <p:cNvPr id="8" name="Rounded Rectangle 7"/>
          <p:cNvSpPr/>
          <p:nvPr/>
        </p:nvSpPr>
        <p:spPr>
          <a:xfrm>
            <a:off x="640080" y="2011680"/>
            <a:ext cx="2059228" cy="658368"/>
          </a:xfrm>
          <a:prstGeom prst="round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185416"/>
            <a:ext cx="1967788" cy="274320"/>
          </a:xfrm>
          <a:prstGeom prst="rect">
            <a:avLst/>
          </a:prstGeom>
          <a:noFill/>
        </p:spPr>
        <p:txBody>
          <a:bodyPr wrap="square" lIns="0" rIns="0">
            <a:spAutoFit/>
          </a:bodyPr>
          <a:lstStyle/>
          <a:p>
            <a:pPr algn="ctr">
              <a:defRPr sz="1150" b="1">
                <a:solidFill>
                  <a:srgbClr val="FFFFFF"/>
                </a:solidFill>
                <a:latin typeface="Aptos"/>
              </a:defRPr>
            </a:pPr>
            <a:r>
              <a:t>TO DO</a:t>
            </a:r>
            <a:br/>
            <a:r>
              <a:t>IAM / RBAC</a:t>
            </a:r>
          </a:p>
        </p:txBody>
      </p:sp>
      <p:sp>
        <p:nvSpPr>
          <p:cNvPr id="10" name="TextBox 9"/>
          <p:cNvSpPr txBox="1"/>
          <p:nvPr/>
        </p:nvSpPr>
        <p:spPr>
          <a:xfrm>
            <a:off x="2708452" y="219456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1" name="Rounded Rectangle 10"/>
          <p:cNvSpPr/>
          <p:nvPr/>
        </p:nvSpPr>
        <p:spPr>
          <a:xfrm>
            <a:off x="2845612" y="2011680"/>
            <a:ext cx="2059228" cy="658368"/>
          </a:xfrm>
          <a:prstGeom prst="round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91332" y="2185416"/>
            <a:ext cx="1967788" cy="274320"/>
          </a:xfrm>
          <a:prstGeom prst="rect">
            <a:avLst/>
          </a:prstGeom>
          <a:noFill/>
        </p:spPr>
        <p:txBody>
          <a:bodyPr wrap="square" lIns="0" rIns="0">
            <a:spAutoFit/>
          </a:bodyPr>
          <a:lstStyle/>
          <a:p>
            <a:pPr algn="ctr">
              <a:defRPr sz="1150" b="1">
                <a:solidFill>
                  <a:srgbClr val="FFFFFF"/>
                </a:solidFill>
                <a:latin typeface="Aptos"/>
              </a:defRPr>
            </a:pPr>
            <a:r>
              <a:t>IN PROGRESS</a:t>
            </a:r>
            <a:br/>
            <a:r>
              <a:t>CONT. AUTH</a:t>
            </a:r>
          </a:p>
        </p:txBody>
      </p:sp>
      <p:sp>
        <p:nvSpPr>
          <p:cNvPr id="13" name="TextBox 12"/>
          <p:cNvSpPr txBox="1"/>
          <p:nvPr/>
        </p:nvSpPr>
        <p:spPr>
          <a:xfrm>
            <a:off x="4913985" y="219456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4" name="Rounded Rectangle 13"/>
          <p:cNvSpPr/>
          <p:nvPr/>
        </p:nvSpPr>
        <p:spPr>
          <a:xfrm>
            <a:off x="5051145" y="2011680"/>
            <a:ext cx="2059228" cy="658368"/>
          </a:xfrm>
          <a:prstGeom prst="round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6865" y="2185416"/>
            <a:ext cx="1967788" cy="274320"/>
          </a:xfrm>
          <a:prstGeom prst="rect">
            <a:avLst/>
          </a:prstGeom>
          <a:noFill/>
        </p:spPr>
        <p:txBody>
          <a:bodyPr wrap="square" lIns="0" rIns="0">
            <a:spAutoFit/>
          </a:bodyPr>
          <a:lstStyle/>
          <a:p>
            <a:pPr algn="ctr">
              <a:defRPr sz="1150" b="1">
                <a:solidFill>
                  <a:srgbClr val="FFFFFF"/>
                </a:solidFill>
                <a:latin typeface="Aptos"/>
              </a:defRPr>
            </a:pPr>
            <a:r>
              <a:t>CODE REVIEW</a:t>
            </a:r>
            <a:br/>
            <a:r>
              <a:t>SAST</a:t>
            </a:r>
          </a:p>
        </p:txBody>
      </p:sp>
      <p:sp>
        <p:nvSpPr>
          <p:cNvPr id="16" name="TextBox 15"/>
          <p:cNvSpPr txBox="1"/>
          <p:nvPr/>
        </p:nvSpPr>
        <p:spPr>
          <a:xfrm>
            <a:off x="7119518" y="219456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17" name="Rounded Rectangle 16"/>
          <p:cNvSpPr/>
          <p:nvPr/>
        </p:nvSpPr>
        <p:spPr>
          <a:xfrm>
            <a:off x="7256678" y="2011680"/>
            <a:ext cx="2059228" cy="658368"/>
          </a:xfrm>
          <a:prstGeom prst="round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02398" y="2185416"/>
            <a:ext cx="1967788" cy="274320"/>
          </a:xfrm>
          <a:prstGeom prst="rect">
            <a:avLst/>
          </a:prstGeom>
          <a:noFill/>
        </p:spPr>
        <p:txBody>
          <a:bodyPr wrap="square" lIns="0" rIns="0">
            <a:spAutoFit/>
          </a:bodyPr>
          <a:lstStyle/>
          <a:p>
            <a:pPr algn="ctr">
              <a:defRPr sz="1150" b="1">
                <a:solidFill>
                  <a:srgbClr val="FFFFFF"/>
                </a:solidFill>
                <a:latin typeface="Aptos"/>
              </a:defRPr>
            </a:pPr>
            <a:r>
              <a:t>TESTING</a:t>
            </a:r>
            <a:br/>
            <a:r>
              <a:t>ANOMALY</a:t>
            </a:r>
          </a:p>
        </p:txBody>
      </p:sp>
      <p:sp>
        <p:nvSpPr>
          <p:cNvPr id="19" name="TextBox 18"/>
          <p:cNvSpPr txBox="1"/>
          <p:nvPr/>
        </p:nvSpPr>
        <p:spPr>
          <a:xfrm>
            <a:off x="9325051" y="2194560"/>
            <a:ext cx="128016" cy="228600"/>
          </a:xfrm>
          <a:prstGeom prst="rect">
            <a:avLst/>
          </a:prstGeom>
          <a:noFill/>
        </p:spPr>
        <p:txBody>
          <a:bodyPr wrap="square" lIns="0" rIns="0">
            <a:spAutoFit/>
          </a:bodyPr>
          <a:lstStyle/>
          <a:p>
            <a:pPr algn="ctr">
              <a:defRPr sz="1600" b="1">
                <a:solidFill>
                  <a:srgbClr val="66707C"/>
                </a:solidFill>
                <a:latin typeface="Aptos"/>
              </a:defRPr>
            </a:pPr>
            <a:r>
              <a:t>→</a:t>
            </a:r>
          </a:p>
        </p:txBody>
      </p:sp>
      <p:sp>
        <p:nvSpPr>
          <p:cNvPr id="20" name="Rounded Rectangle 19"/>
          <p:cNvSpPr/>
          <p:nvPr/>
        </p:nvSpPr>
        <p:spPr>
          <a:xfrm>
            <a:off x="9462211" y="2011680"/>
            <a:ext cx="2059228" cy="658368"/>
          </a:xfrm>
          <a:prstGeom prst="roundRect">
            <a:avLst/>
          </a:prstGeom>
          <a:solidFill>
            <a:srgbClr val="123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7931" y="2185416"/>
            <a:ext cx="1967788" cy="274320"/>
          </a:xfrm>
          <a:prstGeom prst="rect">
            <a:avLst/>
          </a:prstGeom>
          <a:noFill/>
        </p:spPr>
        <p:txBody>
          <a:bodyPr wrap="square" lIns="0" rIns="0">
            <a:spAutoFit/>
          </a:bodyPr>
          <a:lstStyle/>
          <a:p>
            <a:pPr algn="ctr">
              <a:defRPr sz="1150" b="1">
                <a:solidFill>
                  <a:srgbClr val="FFFFFF"/>
                </a:solidFill>
                <a:latin typeface="Aptos"/>
              </a:defRPr>
            </a:pPr>
            <a:r>
              <a:t>DEPLOYMENT</a:t>
            </a:r>
            <a:br/>
            <a:r>
              <a:t>MICRO-SEG</a:t>
            </a:r>
          </a:p>
        </p:txBody>
      </p:sp>
      <p:sp>
        <p:nvSpPr>
          <p:cNvPr id="22" name="Rounded Rectangle 21"/>
          <p:cNvSpPr/>
          <p:nvPr/>
        </p:nvSpPr>
        <p:spPr>
          <a:xfrm>
            <a:off x="640080" y="3246120"/>
            <a:ext cx="2011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3246120"/>
            <a:ext cx="64008" cy="150876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7" y="3410712"/>
            <a:ext cx="1645920" cy="320040"/>
          </a:xfrm>
          <a:prstGeom prst="rect">
            <a:avLst/>
          </a:prstGeom>
          <a:noFill/>
        </p:spPr>
        <p:txBody>
          <a:bodyPr wrap="square" lIns="0" rIns="0">
            <a:spAutoFit/>
          </a:bodyPr>
          <a:lstStyle/>
          <a:p>
            <a:pPr algn="l">
              <a:defRPr sz="1400" b="1">
                <a:solidFill>
                  <a:srgbClr val="123056"/>
                </a:solidFill>
                <a:latin typeface="Aptos"/>
              </a:defRPr>
            </a:pPr>
            <a:r>
              <a:t>Least privilege</a:t>
            </a:r>
          </a:p>
        </p:txBody>
      </p:sp>
      <p:sp>
        <p:nvSpPr>
          <p:cNvPr id="25" name="TextBox 24"/>
          <p:cNvSpPr txBox="1"/>
          <p:nvPr/>
        </p:nvSpPr>
        <p:spPr>
          <a:xfrm>
            <a:off x="841247" y="3813048"/>
            <a:ext cx="1645920" cy="850392"/>
          </a:xfrm>
          <a:prstGeom prst="rect">
            <a:avLst/>
          </a:prstGeom>
          <a:noFill/>
        </p:spPr>
        <p:txBody>
          <a:bodyPr wrap="square" lIns="0" rIns="0">
            <a:spAutoFit/>
          </a:bodyPr>
          <a:lstStyle/>
          <a:p>
            <a:pPr algn="l">
              <a:defRPr sz="1150" b="0">
                <a:solidFill>
                  <a:srgbClr val="28303A"/>
                </a:solidFill>
                <a:latin typeface="Aptos"/>
              </a:defRPr>
            </a:pPr>
            <a:r>
              <a:t>RBAC controls visibility and sensitive task assignment.</a:t>
            </a:r>
          </a:p>
        </p:txBody>
      </p:sp>
      <p:sp>
        <p:nvSpPr>
          <p:cNvPr id="26" name="Rounded Rectangle 25"/>
          <p:cNvSpPr/>
          <p:nvPr/>
        </p:nvSpPr>
        <p:spPr>
          <a:xfrm>
            <a:off x="2852928" y="3246120"/>
            <a:ext cx="2011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52928" y="3246120"/>
            <a:ext cx="64008" cy="1508760"/>
          </a:xfrm>
          <a:prstGeom prst="rect">
            <a:avLst/>
          </a:prstGeom>
          <a:solidFill>
            <a:srgbClr val="1C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054096" y="3410712"/>
            <a:ext cx="1645920" cy="320040"/>
          </a:xfrm>
          <a:prstGeom prst="rect">
            <a:avLst/>
          </a:prstGeom>
          <a:noFill/>
        </p:spPr>
        <p:txBody>
          <a:bodyPr wrap="square" lIns="0" rIns="0">
            <a:spAutoFit/>
          </a:bodyPr>
          <a:lstStyle/>
          <a:p>
            <a:pPr algn="l">
              <a:defRPr sz="1400" b="1">
                <a:solidFill>
                  <a:srgbClr val="123056"/>
                </a:solidFill>
                <a:latin typeface="Aptos"/>
              </a:defRPr>
            </a:pPr>
            <a:r>
              <a:t>Continuous authentication</a:t>
            </a:r>
          </a:p>
        </p:txBody>
      </p:sp>
      <p:sp>
        <p:nvSpPr>
          <p:cNvPr id="29" name="TextBox 28"/>
          <p:cNvSpPr txBox="1"/>
          <p:nvPr/>
        </p:nvSpPr>
        <p:spPr>
          <a:xfrm>
            <a:off x="3054096" y="3813048"/>
            <a:ext cx="1645920" cy="850392"/>
          </a:xfrm>
          <a:prstGeom prst="rect">
            <a:avLst/>
          </a:prstGeom>
          <a:noFill/>
        </p:spPr>
        <p:txBody>
          <a:bodyPr wrap="square" lIns="0" rIns="0">
            <a:spAutoFit/>
          </a:bodyPr>
          <a:lstStyle/>
          <a:p>
            <a:pPr algn="l">
              <a:defRPr sz="1150" b="0">
                <a:solidFill>
                  <a:srgbClr val="28303A"/>
                </a:solidFill>
                <a:latin typeface="Aptos"/>
              </a:defRPr>
            </a:pPr>
            <a:r>
              <a:t>Developer identity and device posture are re-verified.</a:t>
            </a:r>
          </a:p>
        </p:txBody>
      </p:sp>
      <p:sp>
        <p:nvSpPr>
          <p:cNvPr id="30" name="Rounded Rectangle 29"/>
          <p:cNvSpPr/>
          <p:nvPr/>
        </p:nvSpPr>
        <p:spPr>
          <a:xfrm>
            <a:off x="5065776" y="3246120"/>
            <a:ext cx="2011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65776" y="3246120"/>
            <a:ext cx="64008" cy="1508760"/>
          </a:xfrm>
          <a:prstGeom prst="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66944" y="3410712"/>
            <a:ext cx="1645920" cy="320040"/>
          </a:xfrm>
          <a:prstGeom prst="rect">
            <a:avLst/>
          </a:prstGeom>
          <a:noFill/>
        </p:spPr>
        <p:txBody>
          <a:bodyPr wrap="square" lIns="0" rIns="0">
            <a:spAutoFit/>
          </a:bodyPr>
          <a:lstStyle/>
          <a:p>
            <a:pPr algn="l">
              <a:defRPr sz="1400" b="1">
                <a:solidFill>
                  <a:srgbClr val="123056"/>
                </a:solidFill>
                <a:latin typeface="Aptos"/>
              </a:defRPr>
            </a:pPr>
            <a:r>
              <a:t>Static scanning</a:t>
            </a:r>
          </a:p>
        </p:txBody>
      </p:sp>
      <p:sp>
        <p:nvSpPr>
          <p:cNvPr id="33" name="TextBox 32"/>
          <p:cNvSpPr txBox="1"/>
          <p:nvPr/>
        </p:nvSpPr>
        <p:spPr>
          <a:xfrm>
            <a:off x="5266944" y="3813048"/>
            <a:ext cx="1645920" cy="850392"/>
          </a:xfrm>
          <a:prstGeom prst="rect">
            <a:avLst/>
          </a:prstGeom>
          <a:noFill/>
        </p:spPr>
        <p:txBody>
          <a:bodyPr wrap="square" lIns="0" rIns="0">
            <a:spAutoFit/>
          </a:bodyPr>
          <a:lstStyle/>
          <a:p>
            <a:pPr algn="l">
              <a:defRPr sz="1150" b="0">
                <a:solidFill>
                  <a:srgbClr val="28303A"/>
                </a:solidFill>
                <a:latin typeface="Aptos"/>
              </a:defRPr>
            </a:pPr>
            <a:r>
              <a:t>SAST and dependency checks run before testing.</a:t>
            </a:r>
          </a:p>
        </p:txBody>
      </p:sp>
      <p:sp>
        <p:nvSpPr>
          <p:cNvPr id="34" name="Rounded Rectangle 33"/>
          <p:cNvSpPr/>
          <p:nvPr/>
        </p:nvSpPr>
        <p:spPr>
          <a:xfrm>
            <a:off x="7278624" y="3246120"/>
            <a:ext cx="2011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278624" y="3246120"/>
            <a:ext cx="64008" cy="1508760"/>
          </a:xfrm>
          <a:prstGeom prst="rect">
            <a:avLst/>
          </a:prstGeom>
          <a:solidFill>
            <a:srgbClr val="CC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79792" y="3410712"/>
            <a:ext cx="1645920" cy="320040"/>
          </a:xfrm>
          <a:prstGeom prst="rect">
            <a:avLst/>
          </a:prstGeom>
          <a:noFill/>
        </p:spPr>
        <p:txBody>
          <a:bodyPr wrap="square" lIns="0" rIns="0">
            <a:spAutoFit/>
          </a:bodyPr>
          <a:lstStyle/>
          <a:p>
            <a:pPr algn="l">
              <a:defRPr sz="1400" b="1">
                <a:solidFill>
                  <a:srgbClr val="123056"/>
                </a:solidFill>
                <a:latin typeface="Aptos"/>
              </a:defRPr>
            </a:pPr>
            <a:r>
              <a:t>Behavior monitoring</a:t>
            </a:r>
          </a:p>
        </p:txBody>
      </p:sp>
      <p:sp>
        <p:nvSpPr>
          <p:cNvPr id="37" name="TextBox 36"/>
          <p:cNvSpPr txBox="1"/>
          <p:nvPr/>
        </p:nvSpPr>
        <p:spPr>
          <a:xfrm>
            <a:off x="7479792" y="3813048"/>
            <a:ext cx="1645920" cy="850392"/>
          </a:xfrm>
          <a:prstGeom prst="rect">
            <a:avLst/>
          </a:prstGeom>
          <a:noFill/>
        </p:spPr>
        <p:txBody>
          <a:bodyPr wrap="square" lIns="0" rIns="0">
            <a:spAutoFit/>
          </a:bodyPr>
          <a:lstStyle/>
          <a:p>
            <a:pPr algn="l">
              <a:defRPr sz="1150" b="0">
                <a:solidFill>
                  <a:srgbClr val="28303A"/>
                </a:solidFill>
                <a:latin typeface="Aptos"/>
              </a:defRPr>
            </a:pPr>
            <a:r>
              <a:t>Runtime behavior and telemetry support anomaly detection.</a:t>
            </a:r>
          </a:p>
        </p:txBody>
      </p:sp>
      <p:sp>
        <p:nvSpPr>
          <p:cNvPr id="38" name="Rounded Rectangle 37"/>
          <p:cNvSpPr/>
          <p:nvPr/>
        </p:nvSpPr>
        <p:spPr>
          <a:xfrm>
            <a:off x="9491472" y="3246120"/>
            <a:ext cx="2011680" cy="15087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491472" y="3246120"/>
            <a:ext cx="64008" cy="1508760"/>
          </a:xfrm>
          <a:prstGeom prst="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92640" y="3410712"/>
            <a:ext cx="1645920" cy="320040"/>
          </a:xfrm>
          <a:prstGeom prst="rect">
            <a:avLst/>
          </a:prstGeom>
          <a:noFill/>
        </p:spPr>
        <p:txBody>
          <a:bodyPr wrap="square" lIns="0" rIns="0">
            <a:spAutoFit/>
          </a:bodyPr>
          <a:lstStyle/>
          <a:p>
            <a:pPr algn="l">
              <a:defRPr sz="1400" b="1">
                <a:solidFill>
                  <a:srgbClr val="123056"/>
                </a:solidFill>
                <a:latin typeface="Aptos"/>
              </a:defRPr>
            </a:pPr>
            <a:r>
              <a:t>Micro-segmentation</a:t>
            </a:r>
          </a:p>
        </p:txBody>
      </p:sp>
      <p:sp>
        <p:nvSpPr>
          <p:cNvPr id="41" name="TextBox 40"/>
          <p:cNvSpPr txBox="1"/>
          <p:nvPr/>
        </p:nvSpPr>
        <p:spPr>
          <a:xfrm>
            <a:off x="9692640" y="3813048"/>
            <a:ext cx="1645920" cy="850392"/>
          </a:xfrm>
          <a:prstGeom prst="rect">
            <a:avLst/>
          </a:prstGeom>
          <a:noFill/>
        </p:spPr>
        <p:txBody>
          <a:bodyPr wrap="square" lIns="0" rIns="0">
            <a:spAutoFit/>
          </a:bodyPr>
          <a:lstStyle/>
          <a:p>
            <a:pPr algn="l">
              <a:defRPr sz="1150" b="0">
                <a:solidFill>
                  <a:srgbClr val="28303A"/>
                </a:solidFill>
                <a:latin typeface="Aptos"/>
              </a:defRPr>
            </a:pPr>
            <a:r>
              <a:t>Fine-grained network isolation limits blast radius.</a:t>
            </a:r>
          </a:p>
        </p:txBody>
      </p:sp>
      <p:sp>
        <p:nvSpPr>
          <p:cNvPr id="42" name="TextBox 41"/>
          <p:cNvSpPr txBox="1"/>
          <p:nvPr/>
        </p:nvSpPr>
        <p:spPr>
          <a:xfrm>
            <a:off x="731520" y="5166360"/>
            <a:ext cx="10698480" cy="640080"/>
          </a:xfrm>
          <a:prstGeom prst="rect">
            <a:avLst/>
          </a:prstGeom>
          <a:noFill/>
        </p:spPr>
        <p:txBody>
          <a:bodyPr wrap="square" lIns="0" rIns="0">
            <a:spAutoFit/>
          </a:bodyPr>
          <a:lstStyle/>
          <a:p>
            <a:pPr algn="ctr">
              <a:defRPr sz="1200" b="1">
                <a:solidFill>
                  <a:srgbClr val="123056"/>
                </a:solidFill>
                <a:latin typeface="Aptos"/>
              </a:defRPr>
            </a:pPr>
            <a:r>
              <a:t>Traditional Kanban: fast but with fewer security gates.  ZTA-augmented Kanban: security is embedded into transitions, improving governance and auditability.</a:t>
            </a:r>
          </a:p>
        </p:txBody>
      </p:sp>
      <p:sp>
        <p:nvSpPr>
          <p:cNvPr id="43" name="TextBox 42"/>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966960" cy="502920"/>
          </a:xfrm>
          <a:prstGeom prst="rect">
            <a:avLst/>
          </a:prstGeom>
          <a:noFill/>
        </p:spPr>
        <p:txBody>
          <a:bodyPr wrap="none">
            <a:spAutoFit/>
          </a:bodyPr>
          <a:lstStyle/>
          <a:p>
            <a:pPr>
              <a:defRPr sz="2500" b="1">
                <a:solidFill>
                  <a:srgbClr val="123056"/>
                </a:solidFill>
                <a:latin typeface="Aptos Display"/>
              </a:defRPr>
            </a:pPr>
            <a:r>
              <a:t>6. Trello: Strengths, Limits &amp; Takeaway</a:t>
            </a:r>
          </a:p>
        </p:txBody>
      </p:sp>
      <p:sp>
        <p:nvSpPr>
          <p:cNvPr id="5" name="TextBox 4"/>
          <p:cNvSpPr txBox="1"/>
          <p:nvPr/>
        </p:nvSpPr>
        <p:spPr>
          <a:xfrm>
            <a:off x="10241280" y="384048"/>
            <a:ext cx="1417320" cy="274320"/>
          </a:xfrm>
          <a:prstGeom prst="rect">
            <a:avLst/>
          </a:prstGeom>
          <a:noFill/>
        </p:spPr>
        <p:txBody>
          <a:bodyPr wrap="none">
            <a:spAutoFit/>
          </a:bodyPr>
          <a:lstStyle/>
          <a:p>
            <a:pPr algn="r">
              <a:defRPr sz="900" b="1">
                <a:solidFill>
                  <a:srgbClr val="1C9DA5"/>
                </a:solidFill>
                <a:latin typeface="Aptos"/>
              </a:defRPr>
            </a:pPr>
            <a:r>
              <a:t>SUMMARY</a:t>
            </a:r>
          </a:p>
        </p:txBody>
      </p:sp>
      <p:sp>
        <p:nvSpPr>
          <p:cNvPr id="6" name="Rectangle 5"/>
          <p:cNvSpPr/>
          <p:nvPr/>
        </p:nvSpPr>
        <p:spPr>
          <a:xfrm>
            <a:off x="502920" y="914400"/>
            <a:ext cx="11155680" cy="16459"/>
          </a:xfrm>
          <a:prstGeom prst="rect">
            <a:avLst/>
          </a:prstGeom>
          <a:solidFill>
            <a:srgbClr val="DA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234440"/>
            <a:ext cx="3474720" cy="33375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234440"/>
            <a:ext cx="64008" cy="3337560"/>
          </a:xfrm>
          <a:prstGeom prst="rect">
            <a:avLst/>
          </a:prstGeom>
          <a:solidFill>
            <a:srgbClr val="3AA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99032"/>
            <a:ext cx="3108960" cy="320040"/>
          </a:xfrm>
          <a:prstGeom prst="rect">
            <a:avLst/>
          </a:prstGeom>
          <a:noFill/>
        </p:spPr>
        <p:txBody>
          <a:bodyPr wrap="square" lIns="0" rIns="0">
            <a:spAutoFit/>
          </a:bodyPr>
          <a:lstStyle/>
          <a:p>
            <a:pPr algn="l">
              <a:defRPr sz="1400" b="1">
                <a:solidFill>
                  <a:srgbClr val="123056"/>
                </a:solidFill>
                <a:latin typeface="Aptos"/>
              </a:defRPr>
            </a:pPr>
            <a:r>
              <a:t>Strengths</a:t>
            </a:r>
          </a:p>
        </p:txBody>
      </p:sp>
      <p:sp>
        <p:nvSpPr>
          <p:cNvPr id="10" name="TextBox 9"/>
          <p:cNvSpPr txBox="1"/>
          <p:nvPr/>
        </p:nvSpPr>
        <p:spPr>
          <a:xfrm>
            <a:off x="841247" y="1801368"/>
            <a:ext cx="3108960" cy="2679191"/>
          </a:xfrm>
          <a:prstGeom prst="rect">
            <a:avLst/>
          </a:prstGeom>
          <a:noFill/>
        </p:spPr>
        <p:txBody>
          <a:bodyPr wrap="square" lIns="0" rIns="0">
            <a:spAutoFit/>
          </a:bodyPr>
          <a:lstStyle/>
          <a:p>
            <a:pPr algn="l">
              <a:defRPr sz="1150" b="0">
                <a:solidFill>
                  <a:srgbClr val="28303A"/>
                </a:solidFill>
                <a:latin typeface="Aptos"/>
              </a:defRPr>
            </a:pPr>
            <a:r>
              <a:t>• Very visual and easy to learn</a:t>
            </a:r>
            <a:br/>
            <a:r>
              <a:t>• Fast setup for agile teams</a:t>
            </a:r>
            <a:br/>
            <a:r>
              <a:t>• Flexible boards and workflows</a:t>
            </a:r>
            <a:br/>
            <a:r>
              <a:t>• Useful integrations and automation</a:t>
            </a:r>
            <a:br/>
            <a:r>
              <a:t>• Good visibility for distributed teams</a:t>
            </a:r>
          </a:p>
        </p:txBody>
      </p:sp>
      <p:sp>
        <p:nvSpPr>
          <p:cNvPr id="11" name="Rounded Rectangle 10"/>
          <p:cNvSpPr/>
          <p:nvPr/>
        </p:nvSpPr>
        <p:spPr>
          <a:xfrm>
            <a:off x="4343400" y="1234440"/>
            <a:ext cx="3474720" cy="33375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234440"/>
            <a:ext cx="64008" cy="3337560"/>
          </a:xfrm>
          <a:prstGeom prst="rect">
            <a:avLst/>
          </a:prstGeom>
          <a:solidFill>
            <a:srgbClr val="EB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399032"/>
            <a:ext cx="3108960" cy="320040"/>
          </a:xfrm>
          <a:prstGeom prst="rect">
            <a:avLst/>
          </a:prstGeom>
          <a:noFill/>
        </p:spPr>
        <p:txBody>
          <a:bodyPr wrap="square" lIns="0" rIns="0">
            <a:spAutoFit/>
          </a:bodyPr>
          <a:lstStyle/>
          <a:p>
            <a:pPr algn="l">
              <a:defRPr sz="1400" b="1">
                <a:solidFill>
                  <a:srgbClr val="123056"/>
                </a:solidFill>
                <a:latin typeface="Aptos"/>
              </a:defRPr>
            </a:pPr>
            <a:r>
              <a:t>Limits</a:t>
            </a:r>
          </a:p>
        </p:txBody>
      </p:sp>
      <p:sp>
        <p:nvSpPr>
          <p:cNvPr id="14" name="TextBox 13"/>
          <p:cNvSpPr txBox="1"/>
          <p:nvPr/>
        </p:nvSpPr>
        <p:spPr>
          <a:xfrm>
            <a:off x="4544568" y="1801368"/>
            <a:ext cx="3108960" cy="2679191"/>
          </a:xfrm>
          <a:prstGeom prst="rect">
            <a:avLst/>
          </a:prstGeom>
          <a:noFill/>
        </p:spPr>
        <p:txBody>
          <a:bodyPr wrap="square" lIns="0" rIns="0">
            <a:spAutoFit/>
          </a:bodyPr>
          <a:lstStyle/>
          <a:p>
            <a:pPr algn="l">
              <a:defRPr sz="1150" b="0">
                <a:solidFill>
                  <a:srgbClr val="28303A"/>
                </a:solidFill>
                <a:latin typeface="Aptos"/>
              </a:defRPr>
            </a:pPr>
            <a:r>
              <a:t>• Very large/complex projects may need more specialized controls</a:t>
            </a:r>
            <a:br/>
            <a:r>
              <a:t>• Advanced dependencies and resource planning can be limited</a:t>
            </a:r>
            <a:br/>
            <a:r>
              <a:t>• Trello is not itself a full CI/CD engine</a:t>
            </a:r>
            <a:br/>
            <a:r>
              <a:t>• Enterprise governance may require additional configuration</a:t>
            </a:r>
          </a:p>
        </p:txBody>
      </p:sp>
      <p:sp>
        <p:nvSpPr>
          <p:cNvPr id="15" name="Rounded Rectangle 14"/>
          <p:cNvSpPr/>
          <p:nvPr/>
        </p:nvSpPr>
        <p:spPr>
          <a:xfrm>
            <a:off x="8046720" y="1234440"/>
            <a:ext cx="3474720" cy="3337560"/>
          </a:xfrm>
          <a:prstGeom prst="roundRect">
            <a:avLst/>
          </a:prstGeom>
          <a:solidFill>
            <a:srgbClr val="F4F7FA"/>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234440"/>
            <a:ext cx="64008" cy="3337560"/>
          </a:xfrm>
          <a:prstGeom prst="rect">
            <a:avLst/>
          </a:prstGeom>
          <a:solidFill>
            <a:srgbClr val="23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399032"/>
            <a:ext cx="3108960" cy="320040"/>
          </a:xfrm>
          <a:prstGeom prst="rect">
            <a:avLst/>
          </a:prstGeom>
          <a:noFill/>
        </p:spPr>
        <p:txBody>
          <a:bodyPr wrap="square" lIns="0" rIns="0">
            <a:spAutoFit/>
          </a:bodyPr>
          <a:lstStyle/>
          <a:p>
            <a:pPr algn="l">
              <a:defRPr sz="1400" b="1">
                <a:solidFill>
                  <a:srgbClr val="123056"/>
                </a:solidFill>
                <a:latin typeface="Aptos"/>
              </a:defRPr>
            </a:pPr>
            <a:r>
              <a:t>Best Fit</a:t>
            </a:r>
          </a:p>
        </p:txBody>
      </p:sp>
      <p:sp>
        <p:nvSpPr>
          <p:cNvPr id="18" name="TextBox 17"/>
          <p:cNvSpPr txBox="1"/>
          <p:nvPr/>
        </p:nvSpPr>
        <p:spPr>
          <a:xfrm>
            <a:off x="8247888" y="1801368"/>
            <a:ext cx="3108960" cy="2679191"/>
          </a:xfrm>
          <a:prstGeom prst="rect">
            <a:avLst/>
          </a:prstGeom>
          <a:noFill/>
        </p:spPr>
        <p:txBody>
          <a:bodyPr wrap="square" lIns="0" rIns="0">
            <a:spAutoFit/>
          </a:bodyPr>
          <a:lstStyle/>
          <a:p>
            <a:pPr algn="l">
              <a:defRPr sz="1150" b="0">
                <a:solidFill>
                  <a:srgbClr val="28303A"/>
                </a:solidFill>
                <a:latin typeface="Aptos"/>
              </a:defRPr>
            </a:pPr>
            <a:r>
              <a:t>• Small-to-midsize engineering teams</a:t>
            </a:r>
            <a:br/>
            <a:r>
              <a:t>• Startups and SRE units</a:t>
            </a:r>
            <a:br/>
            <a:r>
              <a:t>• Teams wanting quick visual workflow management</a:t>
            </a:r>
            <a:br/>
            <a:r>
              <a:t>• DevOps teams willing to augment Trello with automation, integrations and security controls</a:t>
            </a:r>
          </a:p>
        </p:txBody>
      </p:sp>
      <p:sp>
        <p:nvSpPr>
          <p:cNvPr id="19" name="TextBox 18"/>
          <p:cNvSpPr txBox="1"/>
          <p:nvPr/>
        </p:nvSpPr>
        <p:spPr>
          <a:xfrm>
            <a:off x="685800" y="4983480"/>
            <a:ext cx="10789920" cy="411480"/>
          </a:xfrm>
          <a:prstGeom prst="rect">
            <a:avLst/>
          </a:prstGeom>
          <a:noFill/>
        </p:spPr>
        <p:txBody>
          <a:bodyPr wrap="square" lIns="0" rIns="0">
            <a:spAutoFit/>
          </a:bodyPr>
          <a:lstStyle/>
          <a:p>
            <a:pPr algn="ctr">
              <a:defRPr sz="1100" b="1">
                <a:solidFill>
                  <a:srgbClr val="1C9DA5"/>
                </a:solidFill>
                <a:latin typeface="Aptos"/>
              </a:defRPr>
            </a:pPr>
            <a:r>
              <a:t>TAKEAWAY</a:t>
            </a:r>
          </a:p>
        </p:txBody>
      </p:sp>
      <p:sp>
        <p:nvSpPr>
          <p:cNvPr id="20" name="TextBox 19"/>
          <p:cNvSpPr txBox="1"/>
          <p:nvPr/>
        </p:nvSpPr>
        <p:spPr>
          <a:xfrm>
            <a:off x="914400" y="5440680"/>
            <a:ext cx="10332720" cy="640080"/>
          </a:xfrm>
          <a:prstGeom prst="rect">
            <a:avLst/>
          </a:prstGeom>
          <a:noFill/>
        </p:spPr>
        <p:txBody>
          <a:bodyPr wrap="square" lIns="0" rIns="0">
            <a:spAutoFit/>
          </a:bodyPr>
          <a:lstStyle/>
          <a:p>
            <a:pPr algn="ctr">
              <a:defRPr sz="1700" b="1">
                <a:solidFill>
                  <a:srgbClr val="123056"/>
                </a:solidFill>
                <a:latin typeface="Aptos"/>
              </a:defRPr>
            </a:pPr>
            <a:r>
              <a:t>Trello works best as a visual control plane for engineering work—especially when paired with automation, Git integrations, APIs and security gates.</a:t>
            </a:r>
          </a:p>
        </p:txBody>
      </p:sp>
      <p:sp>
        <p:nvSpPr>
          <p:cNvPr id="21" name="TextBox 20"/>
          <p:cNvSpPr txBox="1"/>
          <p:nvPr/>
        </p:nvSpPr>
        <p:spPr>
          <a:xfrm>
            <a:off x="822960" y="6144768"/>
            <a:ext cx="10515600" cy="228600"/>
          </a:xfrm>
          <a:prstGeom prst="rect">
            <a:avLst/>
          </a:prstGeom>
          <a:noFill/>
        </p:spPr>
        <p:txBody>
          <a:bodyPr wrap="square" lIns="0" rIns="0">
            <a:spAutoFit/>
          </a:bodyPr>
          <a:lstStyle/>
          <a:p>
            <a:pPr algn="ctr">
              <a:defRPr sz="900" b="0">
                <a:solidFill>
                  <a:srgbClr val="66707C"/>
                </a:solidFill>
                <a:latin typeface="Aptos"/>
              </a:defRPr>
            </a:pPr>
            <a:r>
              <a:t>Reference: supplied 5-page “Trello for DevOps: Comprehensive Technical Guide.”</a:t>
            </a:r>
          </a:p>
        </p:txBody>
      </p:sp>
      <p:sp>
        <p:nvSpPr>
          <p:cNvPr id="22" name="TextBox 21"/>
          <p:cNvSpPr txBox="1"/>
          <p:nvPr/>
        </p:nvSpPr>
        <p:spPr>
          <a:xfrm>
            <a:off x="502920" y="6473952"/>
            <a:ext cx="11155680" cy="201168"/>
          </a:xfrm>
          <a:prstGeom prst="rect">
            <a:avLst/>
          </a:prstGeom>
          <a:noFill/>
        </p:spPr>
        <p:txBody>
          <a:bodyPr wrap="none">
            <a:spAutoFit/>
          </a:bodyPr>
          <a:lstStyle/>
          <a:p>
            <a:pPr algn="r">
              <a:defRPr sz="800">
                <a:solidFill>
                  <a:srgbClr val="66707C"/>
                </a:solidFill>
                <a:latin typeface="Aptos"/>
              </a:defRPr>
            </a:pPr>
            <a:r>
              <a:t>Trello for DevOps  •  Reference presentation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1156</Words>
  <Application>Microsoft Office PowerPoint</Application>
  <PresentationFormat>Widescreen</PresentationFormat>
  <Paragraphs>138</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Lakshit Khandelwal</dc:creator>
  <cp:keywords/>
  <dc:description>generated using python-pptx</dc:description>
  <cp:lastModifiedBy>Lakshit Khandelwal</cp:lastModifiedBy>
  <cp:revision>1</cp:revision>
  <dcterms:created xsi:type="dcterms:W3CDTF">2013-01-27T09:14:16Z</dcterms:created>
  <dcterms:modified xsi:type="dcterms:W3CDTF">2026-09-14T06:23:30Z</dcterms:modified>
  <cp:category/>
</cp:coreProperties>
</file>